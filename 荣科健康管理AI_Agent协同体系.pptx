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8" r:id="rId6"/>
    <p:sldId id="271" r:id="rId7"/>
    <p:sldId id="260" r:id="rId8"/>
    <p:sldId id="259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4" name="Shape 2"/>
          <p:cNvSpPr/>
          <p:nvPr/>
        </p:nvSpPr>
        <p:spPr>
          <a:xfrm>
            <a:off x="457200" y="1417320"/>
            <a:ext cx="8229600" cy="50292"/>
          </a:xfrm>
          <a:prstGeom prst="rect">
            <a:avLst/>
          </a:prstGeom>
          <a:solidFill>
            <a:srgbClr val="0D7490">
              <a:alpha val="55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457200" y="3383280"/>
            <a:ext cx="8229600" cy="50292"/>
          </a:xfrm>
          <a:prstGeom prst="rect">
            <a:avLst/>
          </a:prstGeom>
          <a:solidFill>
            <a:srgbClr val="06D6A0">
              <a:alpha val="55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640080" y="594360"/>
            <a:ext cx="78638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荣科健康管理平台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8638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协同体系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7863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A8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整体架构设计方案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234440" y="3520440"/>
            <a:ext cx="1920240" cy="438912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10" name="Text 8"/>
          <p:cNvSpPr/>
          <p:nvPr/>
        </p:nvSpPr>
        <p:spPr>
          <a:xfrm>
            <a:off x="1234440" y="3520440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前台执行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3520440"/>
            <a:ext cx="1920240" cy="438912"/>
          </a:xfrm>
          <a:prstGeom prst="rect">
            <a:avLst/>
          </a:prstGeom>
          <a:solidFill>
            <a:srgbClr val="0FA3B1"/>
          </a:solidFill>
        </p:spPr>
      </p:sp>
      <p:sp>
        <p:nvSpPr>
          <p:cNvPr id="12" name="Text 10"/>
          <p:cNvSpPr/>
          <p:nvPr/>
        </p:nvSpPr>
        <p:spPr>
          <a:xfrm>
            <a:off x="3566160" y="3520440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中台智能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97880" y="3520440"/>
            <a:ext cx="1920240" cy="438912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14" name="Text 12"/>
          <p:cNvSpPr/>
          <p:nvPr/>
        </p:nvSpPr>
        <p:spPr>
          <a:xfrm>
            <a:off x="5897880" y="3520440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后台商业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880"/>
                </a:solidFill>
              </a:rPr>
              <a:t>前台执行 · 中台智能 · 后台商业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617720"/>
            <a:ext cx="7863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B75"/>
                </a:solidFill>
              </a:rPr>
              <a:t>2026年4月  |  战略汇报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E3C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69494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整体架构总览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5" name="Text 3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七类Agent + 知识库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2880" y="877824"/>
            <a:ext cx="8778240" cy="9144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77824"/>
            <a:ext cx="8778240" cy="256032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8" name="Text 6"/>
          <p:cNvSpPr/>
          <p:nvPr/>
        </p:nvSpPr>
        <p:spPr>
          <a:xfrm>
            <a:off x="228600" y="877824"/>
            <a:ext cx="8686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前台  </a:t>
            </a:r>
            <a:r>
              <a:rPr lang="zh-CN" altLang="en-US" sz="1000" b="1" dirty="0">
                <a:solidFill>
                  <a:srgbClr val="FFFFFF"/>
                </a:solidFill>
              </a:rPr>
              <a:t>健康管理方案执行</a:t>
            </a:r>
            <a:r>
              <a:rPr lang="en-US" altLang="zh-CN" sz="1000" b="1" dirty="0">
                <a:solidFill>
                  <a:srgbClr val="FFFFFF"/>
                </a:solidFill>
              </a:rPr>
              <a:t>：</a:t>
            </a:r>
            <a:r>
              <a:rPr lang="en-US" sz="1000" b="1" dirty="0">
                <a:solidFill>
                  <a:srgbClr val="FFFFFF"/>
                </a:solidFill>
              </a:rPr>
              <a:t>服务助</a:t>
            </a:r>
            <a:r>
              <a:rPr lang="zh-CN" altLang="en-US" sz="1000" b="1" dirty="0">
                <a:solidFill>
                  <a:srgbClr val="FFFFFF"/>
                </a:solidFill>
              </a:rPr>
              <a:t>手</a:t>
            </a:r>
            <a:r>
              <a:rPr lang="en-US" sz="1000" b="1" dirty="0">
                <a:solidFill>
                  <a:srgbClr val="FFFFFF"/>
                </a:solidFill>
              </a:rPr>
              <a:t>Agent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161288"/>
            <a:ext cx="845820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营养饮食 · 随访管理 · 症状监测 · 康复运动 · 用药管理 · 心理支持 · 患教内容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直接面向患者，执行健康服务任务；（</a:t>
            </a:r>
            <a:r>
              <a:rPr lang="zh-CN" altLang="en-US" sz="100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健康方案规划</a:t>
            </a:r>
            <a:r>
              <a:rPr lang="en-US" sz="100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模式下参与病种方案模块构建）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810512"/>
            <a:ext cx="8778240" cy="274320"/>
          </a:xfrm>
          <a:prstGeom prst="rect">
            <a:avLst/>
          </a:prstGeom>
          <a:solidFill>
            <a:srgbClr val="DCF0F5"/>
          </a:solidFill>
        </p:spPr>
      </p:sp>
      <p:sp>
        <p:nvSpPr>
          <p:cNvPr id="11" name="Text 9"/>
          <p:cNvSpPr/>
          <p:nvPr/>
        </p:nvSpPr>
        <p:spPr>
          <a:xfrm>
            <a:off x="274320" y="1810512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7490"/>
                </a:solidFill>
              </a:rPr>
              <a:t>↓  数据总线：患者健康数据、执行记录、人工干预</a:t>
            </a:r>
            <a:r>
              <a:rPr lang="zh-CN" altLang="en-US" sz="900" dirty="0">
                <a:solidFill>
                  <a:srgbClr val="0D7490"/>
                </a:solidFill>
              </a:rPr>
              <a:t>作为</a:t>
            </a:r>
            <a:r>
              <a:rPr lang="en-US" sz="900" dirty="0">
                <a:solidFill>
                  <a:srgbClr val="0D7490"/>
                </a:solidFill>
              </a:rPr>
              <a:t>标注</a:t>
            </a:r>
            <a:r>
              <a:rPr lang="zh-CN" altLang="en-US" sz="900" dirty="0">
                <a:solidFill>
                  <a:srgbClr val="0D7490"/>
                </a:solidFill>
              </a:rPr>
              <a:t>数据</a:t>
            </a:r>
            <a:r>
              <a:rPr lang="en-US" sz="900" dirty="0">
                <a:solidFill>
                  <a:srgbClr val="0D7490"/>
                </a:solidFill>
              </a:rPr>
              <a:t>  实时上行至中台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2103120"/>
            <a:ext cx="2788920" cy="1325880"/>
          </a:xfrm>
          <a:prstGeom prst="rect">
            <a:avLst/>
          </a:prstGeom>
          <a:solidFill>
            <a:srgbClr val="0FA3B1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" y="2130552"/>
            <a:ext cx="2606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健康管理方案</a:t>
            </a: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规划 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2432304"/>
            <a:ext cx="260604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文献检索Agent</a:t>
            </a:r>
            <a:endParaRPr lang="en-US" sz="950" dirty="0">
              <a:solidFill>
                <a:srgbClr val="CCE8E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zh-CN" altLang="en-US" sz="950" dirty="0">
                <a:solidFill>
                  <a:srgbClr val="CC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服务助手参与各自领域病种方案构建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循证驱动·Disease Skill生成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63824" y="2103120"/>
            <a:ext cx="2788920" cy="1325880"/>
          </a:xfrm>
          <a:prstGeom prst="rect">
            <a:avLst/>
          </a:prstGeom>
          <a:solidFill>
            <a:srgbClr val="0B4F6C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55264" y="2130552"/>
            <a:ext cx="2606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知识库体系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55264" y="2432304"/>
            <a:ext cx="260604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四层架构：来源→处理→维护→服务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平台级基础设施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71616" y="2103120"/>
            <a:ext cx="2788920" cy="1325880"/>
          </a:xfrm>
          <a:prstGeom prst="rect">
            <a:avLst/>
          </a:prstGeom>
          <a:solidFill>
            <a:srgbClr val="0D7490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63056" y="2130552"/>
            <a:ext cx="2606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运营智能分析 Agent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63056" y="2432304"/>
            <a:ext cx="260604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群体洞察·效能评估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数据驱动优化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" y="3447288"/>
            <a:ext cx="8778240" cy="274320"/>
          </a:xfrm>
          <a:prstGeom prst="rect">
            <a:avLst/>
          </a:prstGeom>
          <a:solidFill>
            <a:srgbClr val="D5F0E8"/>
          </a:solidFill>
        </p:spPr>
      </p:sp>
      <p:sp>
        <p:nvSpPr>
          <p:cNvPr id="22" name="Text 20"/>
          <p:cNvSpPr/>
          <p:nvPr/>
        </p:nvSpPr>
        <p:spPr>
          <a:xfrm>
            <a:off x="274320" y="3447288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6B4A"/>
                </a:solidFill>
              </a:rPr>
              <a:t>↓  Disease Skill + 运营数据  下行至后台商业化Agent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3749040"/>
            <a:ext cx="8778240" cy="65836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3749040"/>
            <a:ext cx="8778240" cy="256032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25" name="Text 23"/>
          <p:cNvSpPr/>
          <p:nvPr/>
        </p:nvSpPr>
        <p:spPr>
          <a:xfrm>
            <a:off x="228600" y="3749040"/>
            <a:ext cx="8686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后台  商业化 Agent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" y="4032504"/>
            <a:ext cx="845820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</a:t>
            </a:r>
            <a:r>
              <a:rPr lang="zh-CN" altLang="en-US" sz="100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权益</a:t>
            </a:r>
            <a:r>
              <a:rPr lang="en-US" sz="100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方案Agent · 服务团队规划Agent · 院方绩效规划Agent  —  读取Disease Skill与运营数据，生成商业落地方案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4434840"/>
            <a:ext cx="8778240" cy="566928"/>
          </a:xfrm>
          <a:prstGeom prst="rect">
            <a:avLst/>
          </a:prstGeom>
          <a:solidFill>
            <a:srgbClr val="0A2E3C"/>
          </a:solidFill>
        </p:spPr>
      </p:sp>
      <p:sp>
        <p:nvSpPr>
          <p:cNvPr id="28" name="Text 26"/>
          <p:cNvSpPr/>
          <p:nvPr/>
        </p:nvSpPr>
        <p:spPr>
          <a:xfrm>
            <a:off x="274320" y="4462272"/>
            <a:ext cx="3657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底座 · 记忆与学习层（贯穿全体系）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681728"/>
            <a:ext cx="8503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结构化人工反馈 → 三层记忆存储（短期/中期/长期）→ 月度优化循环 → 灰度测试 → 全量部署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E3C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69494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核心设计理念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5" name="Text 3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前台·中台·后台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8778240" cy="594360"/>
          </a:xfrm>
          <a:prstGeom prst="rect">
            <a:avLst/>
          </a:prstGeom>
          <a:solidFill>
            <a:srgbClr val="EFF9FB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68680"/>
            <a:ext cx="182880" cy="594360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8" name="Text 6"/>
          <p:cNvSpPr/>
          <p:nvPr/>
        </p:nvSpPr>
        <p:spPr>
          <a:xfrm>
            <a:off x="438912" y="868680"/>
            <a:ext cx="8458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核心哲学：</a:t>
            </a:r>
            <a:r>
              <a:rPr lang="en-US" sz="110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负责执行，人负责判断，人机协作产生记忆，记忆驱动 Agent 持续进化。</a:t>
            </a:r>
            <a:r>
              <a:rPr lang="en-US" sz="110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这不是替代人工的系统，而是让人工价值不断向上迁移——从执行者 → 审核者 → 策略制定者。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155448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490"/>
                </a:solidFill>
              </a:rPr>
              <a:t>三域六层能力分工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182880" y="1874520"/>
          <a:ext cx="7955280" cy="3127375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3611880"/>
                <a:gridCol w="1874520"/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层级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执行者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职责定义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人工参与度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L1 全自动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服务助理Agent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标准随访、提醒、监测、推送、问答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6D6A0"/>
                          </a:solidFill>
                        </a:rPr>
                        <a:t>0% — 全自动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L2 辅助决策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AI + 人工协作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AI生成建议，人工审核确认后执行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A3B1"/>
                          </a:solidFill>
                        </a:rPr>
                        <a:t>20-30%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L3 人工主导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人工 + AI辅助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复杂医学判断、危机干预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4762E"/>
                          </a:solidFill>
                        </a:rPr>
                        <a:t>80-100%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知识供给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知识库体系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持续构建、更新、治理全平台知识资产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医学顾问定期审核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方案规划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疾病规划Agent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检索证据、生成病种方案、沉淀Disease Skill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4762E"/>
                          </a:solidFill>
                        </a:rPr>
                        <a:t>医生必须审核确认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商业化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商业化Agent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服务包、团队配置、绩效方案生成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运营+法务审核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E3C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69494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健康管理方案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规划 Agent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5" name="Text 3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循证驱动·Disease Skill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2880" y="850392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490"/>
                </a:solidFill>
              </a:rPr>
              <a:t>病种方案生成流程（11步）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188720"/>
            <a:ext cx="4343400" cy="667512"/>
          </a:xfrm>
          <a:prstGeom prst="rect">
            <a:avLst/>
          </a:prstGeom>
          <a:solidFill>
            <a:srgbClr val="FFF4EE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188720"/>
            <a:ext cx="164592" cy="667512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9" name="Text 7"/>
          <p:cNvSpPr/>
          <p:nvPr/>
        </p:nvSpPr>
        <p:spPr>
          <a:xfrm>
            <a:off x="384048" y="1188720"/>
            <a:ext cx="365760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762E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243584"/>
            <a:ext cx="2286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需求输入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490472"/>
            <a:ext cx="34747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病种名称·目标患者群·</a:t>
            </a:r>
            <a:r>
              <a:rPr lang="zh-CN" alt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其他补充</a:t>
            </a:r>
            <a:r>
              <a:rPr lang="zh-CN" alt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</a:t>
            </a:r>
            <a:endParaRPr lang="zh-CN" altLang="en-US" sz="850" dirty="0">
              <a:solidFill>
                <a:srgbClr val="5B7B8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03320" y="1353312"/>
            <a:ext cx="777240" cy="320040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13" name="Text 11"/>
          <p:cNvSpPr/>
          <p:nvPr/>
        </p:nvSpPr>
        <p:spPr>
          <a:xfrm>
            <a:off x="3703320" y="1353312"/>
            <a:ext cx="777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运营/产品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" y="1819656"/>
            <a:ext cx="4343400" cy="667512"/>
          </a:xfrm>
          <a:prstGeom prst="rect">
            <a:avLst/>
          </a:prstGeom>
          <a:solidFill>
            <a:srgbClr val="F0F9FC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1819656"/>
            <a:ext cx="164592" cy="667512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16" name="Text 14"/>
          <p:cNvSpPr/>
          <p:nvPr/>
        </p:nvSpPr>
        <p:spPr>
          <a:xfrm>
            <a:off x="384048" y="1819656"/>
            <a:ext cx="365760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490"/>
                </a:solidFill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1874520"/>
            <a:ext cx="2286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文献检索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121408"/>
            <a:ext cx="34747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文献检索子Agent并行：指南·共识·文献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03320" y="1984248"/>
            <a:ext cx="777240" cy="320040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20" name="Text 18"/>
          <p:cNvSpPr/>
          <p:nvPr/>
        </p:nvSpPr>
        <p:spPr>
          <a:xfrm>
            <a:off x="3703320" y="1984248"/>
            <a:ext cx="777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AI自动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2450592"/>
            <a:ext cx="4343400" cy="667512"/>
          </a:xfrm>
          <a:prstGeom prst="rect">
            <a:avLst/>
          </a:prstGeom>
          <a:solidFill>
            <a:srgbClr val="F0F9FC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450592"/>
            <a:ext cx="164592" cy="667512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23" name="Text 21"/>
          <p:cNvSpPr/>
          <p:nvPr/>
        </p:nvSpPr>
        <p:spPr>
          <a:xfrm>
            <a:off x="384048" y="2450592"/>
            <a:ext cx="365760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490"/>
                </a:solidFill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2505456"/>
            <a:ext cx="2286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模块设计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2752344"/>
            <a:ext cx="34747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各服务助理Agent基于检索结果，并行设计本领域模块初稿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03320" y="2615184"/>
            <a:ext cx="777240" cy="320040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27" name="Text 25"/>
          <p:cNvSpPr/>
          <p:nvPr/>
        </p:nvSpPr>
        <p:spPr>
          <a:xfrm>
            <a:off x="3703320" y="2615184"/>
            <a:ext cx="777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AI并行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3081528"/>
            <a:ext cx="4343400" cy="667512"/>
          </a:xfrm>
          <a:prstGeom prst="rect">
            <a:avLst/>
          </a:prstGeom>
          <a:solidFill>
            <a:srgbClr val="F0F9FC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3081528"/>
            <a:ext cx="164592" cy="667512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30" name="Text 28"/>
          <p:cNvSpPr/>
          <p:nvPr/>
        </p:nvSpPr>
        <p:spPr>
          <a:xfrm>
            <a:off x="384048" y="3081528"/>
            <a:ext cx="365760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490"/>
                </a:solidFill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" y="3136392"/>
            <a:ext cx="2286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汇总检测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3383280"/>
            <a:ext cx="34747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疾病规划Agent汇总，检测时间冲突和逻辑矛盾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03320" y="3246120"/>
            <a:ext cx="777240" cy="320040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34" name="Text 32"/>
          <p:cNvSpPr/>
          <p:nvPr/>
        </p:nvSpPr>
        <p:spPr>
          <a:xfrm>
            <a:off x="3703320" y="3246120"/>
            <a:ext cx="777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AI自动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82880" y="3712464"/>
            <a:ext cx="4343400" cy="667512"/>
          </a:xfrm>
          <a:prstGeom prst="rect">
            <a:avLst/>
          </a:prstGeom>
          <a:solidFill>
            <a:srgbClr val="F0F9FC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82880" y="3712464"/>
            <a:ext cx="164592" cy="667512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37" name="Text 35"/>
          <p:cNvSpPr/>
          <p:nvPr/>
        </p:nvSpPr>
        <p:spPr>
          <a:xfrm>
            <a:off x="384048" y="3712464"/>
            <a:ext cx="365760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490"/>
                </a:solidFill>
              </a:rPr>
              <a:t>05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77240" y="3767328"/>
            <a:ext cx="2286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生成初稿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" y="4014216"/>
            <a:ext cx="34747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完整方案初稿：每项配置附带引用来源+证据级别+置信度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703320" y="3877056"/>
            <a:ext cx="777240" cy="320040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41" name="Text 39"/>
          <p:cNvSpPr/>
          <p:nvPr/>
        </p:nvSpPr>
        <p:spPr>
          <a:xfrm>
            <a:off x="3703320" y="3877056"/>
            <a:ext cx="777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AI自动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2880" y="4343400"/>
            <a:ext cx="4343400" cy="667512"/>
          </a:xfrm>
          <a:prstGeom prst="rect">
            <a:avLst/>
          </a:prstGeom>
          <a:solidFill>
            <a:srgbClr val="FFF4EE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82880" y="4343400"/>
            <a:ext cx="164592" cy="667512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44" name="Text 42"/>
          <p:cNvSpPr/>
          <p:nvPr/>
        </p:nvSpPr>
        <p:spPr>
          <a:xfrm>
            <a:off x="384048" y="4343400"/>
            <a:ext cx="365760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762E"/>
                </a:solidFill>
              </a:rPr>
              <a:t>06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77240" y="4398264"/>
            <a:ext cx="2286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医生审核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7240" y="4645152"/>
            <a:ext cx="34747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推送审核界面，高亮证据冲突项和低置信度项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703320" y="4507992"/>
            <a:ext cx="777240" cy="320040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48" name="Text 46"/>
          <p:cNvSpPr/>
          <p:nvPr/>
        </p:nvSpPr>
        <p:spPr>
          <a:xfrm>
            <a:off x="3703320" y="4507992"/>
            <a:ext cx="777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医生必须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46320" y="1188720"/>
            <a:ext cx="4343400" cy="667512"/>
          </a:xfrm>
          <a:prstGeom prst="rect">
            <a:avLst/>
          </a:prstGeom>
          <a:solidFill>
            <a:srgbClr val="F0F9FC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46320" y="1188720"/>
            <a:ext cx="164592" cy="667512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51" name="Text 49"/>
          <p:cNvSpPr/>
          <p:nvPr/>
        </p:nvSpPr>
        <p:spPr>
          <a:xfrm>
            <a:off x="5047488" y="1188720"/>
            <a:ext cx="365760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490"/>
                </a:solidFill>
              </a:rPr>
              <a:t>07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40680" y="1243584"/>
            <a:ext cx="2286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AI修正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40680" y="1490472"/>
            <a:ext cx="34747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根据医生意见修正，生成差异对比报告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366760" y="1353312"/>
            <a:ext cx="777240" cy="320040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55" name="Text 53"/>
          <p:cNvSpPr/>
          <p:nvPr/>
        </p:nvSpPr>
        <p:spPr>
          <a:xfrm>
            <a:off x="8366760" y="1353312"/>
            <a:ext cx="777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AI自动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46320" y="1819656"/>
            <a:ext cx="4343400" cy="667512"/>
          </a:xfrm>
          <a:prstGeom prst="rect">
            <a:avLst/>
          </a:prstGeom>
          <a:solidFill>
            <a:srgbClr val="FFF4EE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846320" y="1819656"/>
            <a:ext cx="164592" cy="667512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58" name="Text 56"/>
          <p:cNvSpPr/>
          <p:nvPr/>
        </p:nvSpPr>
        <p:spPr>
          <a:xfrm>
            <a:off x="5047488" y="1819656"/>
            <a:ext cx="365760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762E"/>
                </a:solidFill>
              </a:rPr>
              <a:t>08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440680" y="1874520"/>
            <a:ext cx="2286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二次确认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440680" y="2121408"/>
            <a:ext cx="34747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医生确认，</a:t>
            </a:r>
            <a:r>
              <a:rPr lang="zh-CN" alt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提供修改</a:t>
            </a:r>
            <a:r>
              <a:rPr lang="zh-CN" alt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</a:t>
            </a:r>
            <a:endParaRPr lang="zh-CN" altLang="en-US" sz="850" dirty="0">
              <a:solidFill>
                <a:srgbClr val="5B7B8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8366760" y="1984248"/>
            <a:ext cx="777240" cy="320040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62" name="Text 60"/>
          <p:cNvSpPr/>
          <p:nvPr/>
        </p:nvSpPr>
        <p:spPr>
          <a:xfrm>
            <a:off x="8366760" y="1984248"/>
            <a:ext cx="777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医生必须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846320" y="2450592"/>
            <a:ext cx="4343400" cy="667512"/>
          </a:xfrm>
          <a:prstGeom prst="rect">
            <a:avLst/>
          </a:prstGeom>
          <a:solidFill>
            <a:srgbClr val="F0F9FC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846320" y="2450592"/>
            <a:ext cx="164592" cy="667512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65" name="Text 63"/>
          <p:cNvSpPr/>
          <p:nvPr/>
        </p:nvSpPr>
        <p:spPr>
          <a:xfrm>
            <a:off x="5047488" y="2450592"/>
            <a:ext cx="365760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490"/>
                </a:solidFill>
              </a:rPr>
              <a:t>09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440680" y="2505456"/>
            <a:ext cx="2286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写入记忆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440680" y="2752344"/>
            <a:ext cx="34747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医生意见和修正过程写入记忆层，形成学习数据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366760" y="2615184"/>
            <a:ext cx="777240" cy="320040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69" name="Text 67"/>
          <p:cNvSpPr/>
          <p:nvPr/>
        </p:nvSpPr>
        <p:spPr>
          <a:xfrm>
            <a:off x="8366760" y="2615184"/>
            <a:ext cx="777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AI自动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846320" y="3081528"/>
            <a:ext cx="4343400" cy="667512"/>
          </a:xfrm>
          <a:prstGeom prst="rect">
            <a:avLst/>
          </a:prstGeom>
          <a:solidFill>
            <a:srgbClr val="FFF4EE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846320" y="3081528"/>
            <a:ext cx="164592" cy="667512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72" name="Text 70"/>
          <p:cNvSpPr/>
          <p:nvPr/>
        </p:nvSpPr>
        <p:spPr>
          <a:xfrm>
            <a:off x="5047488" y="3081528"/>
            <a:ext cx="365760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762E"/>
                </a:solidFill>
              </a:rPr>
              <a:t>10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40680" y="3136392"/>
            <a:ext cx="2286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版本发布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440680" y="3383280"/>
            <a:ext cx="34747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生成Disease Skill v1.0，分配版本号，激活上线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366760" y="3246120"/>
            <a:ext cx="777240" cy="320040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76" name="Text 74"/>
          <p:cNvSpPr/>
          <p:nvPr/>
        </p:nvSpPr>
        <p:spPr>
          <a:xfrm>
            <a:off x="8366760" y="3246120"/>
            <a:ext cx="777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运营确认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846320" y="3712464"/>
            <a:ext cx="4343400" cy="667512"/>
          </a:xfrm>
          <a:prstGeom prst="rect">
            <a:avLst/>
          </a:prstGeom>
          <a:solidFill>
            <a:srgbClr val="FFF4EE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4846320" y="3712464"/>
            <a:ext cx="164592" cy="667512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79" name="Text 77"/>
          <p:cNvSpPr/>
          <p:nvPr/>
        </p:nvSpPr>
        <p:spPr>
          <a:xfrm>
            <a:off x="5047488" y="3712464"/>
            <a:ext cx="365760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762E"/>
                </a:solidFill>
              </a:rPr>
              <a:t>11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5440680" y="3767328"/>
            <a:ext cx="2286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优化循环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440680" y="4014216"/>
            <a:ext cx="34747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前100患者积累后启动月度优化循环，Skill版本持续迭代递增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8366760" y="3877056"/>
            <a:ext cx="777240" cy="320040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83" name="Text 81"/>
          <p:cNvSpPr/>
          <p:nvPr/>
        </p:nvSpPr>
        <p:spPr>
          <a:xfrm>
            <a:off x="8366760" y="3877056"/>
            <a:ext cx="777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AI+人工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E3C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69494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健康管理计划执行</a:t>
            </a:r>
            <a:r>
              <a:rPr lang="en-US" altLang="zh-CN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：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服务助理 Agent 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5" name="Text 3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双模工作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2880" y="841248"/>
            <a:ext cx="8778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每个Agent身兼两职：执行模式（日常服务患者）+ 设计模式（参与病种方案构建），设计和执行之间无知识损耗。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182880" y="1216152"/>
          <a:ext cx="8778240" cy="3364992"/>
        </p:xfrm>
        <a:graphic>
          <a:graphicData uri="http://schemas.openxmlformats.org/drawingml/2006/table">
            <a:tbl>
              <a:tblPr/>
              <a:tblGrid>
                <a:gridCol w="1691640"/>
                <a:gridCol w="4892040"/>
                <a:gridCol w="219456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Agent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执行模式（日常服务患者）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触发升级条件（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</a:rPr>
                        <a:t>举例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）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3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4F6C"/>
                          </a:solidFill>
                        </a:rPr>
                        <a:t>营养饮食助理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7B8A"/>
                          </a:solidFill>
                        </a:rPr>
                        <a:t>饮食日记解析 · 个性化食谱推送 · NRS评分监测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4762E"/>
                          </a:solidFill>
                        </a:rPr>
                        <a:t>NRS≥3分触发营养师介入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4F6C"/>
                          </a:solidFill>
                        </a:rPr>
                        <a:t>随访管理助理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7B8A"/>
                          </a:solidFill>
                        </a:rPr>
                        <a:t>按节点自动随访 · 解析回复 · 生成摘要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4762E"/>
                          </a:solidFill>
                        </a:rPr>
                        <a:t>3次失联/异常回复触发管理师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4F6C"/>
                          </a:solidFill>
                        </a:rPr>
                        <a:t>症状监测助理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7B8A"/>
                          </a:solidFill>
                        </a:rPr>
                        <a:t>实时采集体重/症状/用药 · 触发预警路由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4762E"/>
                          </a:solidFill>
                        </a:rPr>
                        <a:t>指标超阈值自动分级路由L2/L3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4F6C"/>
                          </a:solidFill>
                        </a:rPr>
                        <a:t>康复运动助理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7B8A"/>
                          </a:solidFill>
                        </a:rPr>
                        <a:t>推送运动计划 · 监测执行率 · 评估耐受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4762E"/>
                          </a:solidFill>
                        </a:rPr>
                        <a:t>运动耐受异常触发康复教练介入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4F6C"/>
                          </a:solidFill>
                        </a:rPr>
                        <a:t>用药管理助理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7B8A"/>
                          </a:solidFill>
                        </a:rPr>
                        <a:t>发送用药提醒 · 记录服药 · 识别漏服模式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4762E"/>
                          </a:solidFill>
                        </a:rPr>
                        <a:t>不良反应描述触发医生升级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4F6C"/>
                          </a:solidFill>
                        </a:rPr>
                        <a:t>心理支持助理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7B8A"/>
                          </a:solidFill>
                        </a:rPr>
                        <a:t>情绪信号分析 · 推送正念内容 · PHQ-9监测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4762E"/>
                          </a:solidFill>
                        </a:rPr>
                        <a:t>PHQ-9≥10或危机词汇触发咨询师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4F6C"/>
                          </a:solidFill>
                        </a:rPr>
                        <a:t>患教内容助理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7B8A"/>
                          </a:solidFill>
                        </a:rPr>
                        <a:t>按路径节点推送科普内容 · 跟踪阅读完成率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4762E"/>
                          </a:solidFill>
                        </a:rPr>
                        <a:t>内容完成率持续低触发管理师关注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82880" y="4818888"/>
            <a:ext cx="8778240" cy="182880"/>
          </a:xfrm>
          <a:prstGeom prst="rect">
            <a:avLst/>
          </a:prstGeom>
          <a:solidFill>
            <a:srgbClr val="EFF9FB"/>
          </a:solidFill>
        </p:spPr>
      </p:sp>
      <p:sp>
        <p:nvSpPr>
          <p:cNvPr id="9" name="Text 6"/>
          <p:cNvSpPr/>
          <p:nvPr/>
        </p:nvSpPr>
        <p:spPr>
          <a:xfrm>
            <a:off x="274320" y="4818888"/>
            <a:ext cx="8595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</a:rPr>
              <a:t>设计模式：疾病规划Agent发起新病种时，各Agent作为本领域专家参与对应模块初稿设计，确保设计与执行零损耗。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E3C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69494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文献检索子 Agent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5" name="Text 3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三项并行检索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疾病规划Agent内部的专职"证据官"。每次生成新病种方案时并行完成三项检索，为方案每个节点提供循证依据，让医生审核有据可查而非面对黑盒推荐。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" y="1261872"/>
            <a:ext cx="2834640" cy="36118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261872"/>
            <a:ext cx="2834640" cy="384048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9" name="Text 7"/>
          <p:cNvSpPr/>
          <p:nvPr/>
        </p:nvSpPr>
        <p:spPr>
          <a:xfrm>
            <a:off x="274320" y="1261872"/>
            <a:ext cx="2651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检索权威指南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2633472" cy="804672"/>
          </a:xfrm>
          <a:prstGeom prst="rect">
            <a:avLst/>
          </a:prstGeom>
          <a:solidFill>
            <a:srgbClr val="F4FAFB"/>
          </a:solidFill>
        </p:spPr>
      </p:sp>
      <p:sp>
        <p:nvSpPr>
          <p:cNvPr id="11" name="Text 9"/>
          <p:cNvSpPr/>
          <p:nvPr/>
        </p:nvSpPr>
        <p:spPr>
          <a:xfrm>
            <a:off x="347472" y="1783080"/>
            <a:ext cx="2487168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自动识别病种对应主流指南体系（CSCO · NCCN · WHO · 各学会指南）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606040"/>
            <a:ext cx="2633472" cy="804672"/>
          </a:xfrm>
          <a:prstGeom prst="rect">
            <a:avLst/>
          </a:prstGeom>
          <a:solidFill>
            <a:srgbClr val="EDF6F8"/>
          </a:solidFill>
        </p:spPr>
      </p:sp>
      <p:sp>
        <p:nvSpPr>
          <p:cNvPr id="13" name="Text 11"/>
          <p:cNvSpPr/>
          <p:nvPr/>
        </p:nvSpPr>
        <p:spPr>
          <a:xfrm>
            <a:off x="347472" y="2670048"/>
            <a:ext cx="2487168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拉取最新版本，定位核心章节；提取：分期标准·治疗推荐·随访节点·预警指标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493008"/>
            <a:ext cx="2633472" cy="804672"/>
          </a:xfrm>
          <a:prstGeom prst="rect">
            <a:avLst/>
          </a:prstGeom>
          <a:solidFill>
            <a:srgbClr val="F4FAFB"/>
          </a:solidFill>
        </p:spPr>
      </p:sp>
      <p:sp>
        <p:nvSpPr>
          <p:cNvPr id="15" name="Text 13"/>
          <p:cNvSpPr/>
          <p:nvPr/>
        </p:nvSpPr>
        <p:spPr>
          <a:xfrm>
            <a:off x="347472" y="3557016"/>
            <a:ext cx="2487168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自动检测更新版本，标注版本号和发布日期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72968" y="1261872"/>
            <a:ext cx="2834640" cy="36118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1261872"/>
            <a:ext cx="2834640" cy="384048"/>
          </a:xfrm>
          <a:prstGeom prst="rect">
            <a:avLst/>
          </a:prstGeom>
          <a:solidFill>
            <a:srgbClr val="0FA3B1"/>
          </a:solidFill>
        </p:spPr>
      </p:sp>
      <p:sp>
        <p:nvSpPr>
          <p:cNvPr id="18" name="Text 16"/>
          <p:cNvSpPr/>
          <p:nvPr/>
        </p:nvSpPr>
        <p:spPr>
          <a:xfrm>
            <a:off x="3264408" y="1261872"/>
            <a:ext cx="2651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检索共识与文献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64408" y="1719072"/>
            <a:ext cx="2633472" cy="804672"/>
          </a:xfrm>
          <a:prstGeom prst="rect">
            <a:avLst/>
          </a:prstGeom>
          <a:solidFill>
            <a:srgbClr val="F4FAFB"/>
          </a:solidFill>
        </p:spPr>
      </p:sp>
      <p:sp>
        <p:nvSpPr>
          <p:cNvPr id="20" name="Text 18"/>
          <p:cNvSpPr/>
          <p:nvPr/>
        </p:nvSpPr>
        <p:spPr>
          <a:xfrm>
            <a:off x="3337560" y="1783080"/>
            <a:ext cx="2487168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在CNKI、PubMed检索该病种中国专家共识文件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64408" y="2606040"/>
            <a:ext cx="2633472" cy="804672"/>
          </a:xfrm>
          <a:prstGeom prst="rect">
            <a:avLst/>
          </a:prstGeom>
          <a:solidFill>
            <a:srgbClr val="EDF6F8"/>
          </a:solidFill>
        </p:spPr>
      </p:sp>
      <p:sp>
        <p:nvSpPr>
          <p:cNvPr id="22" name="Text 20"/>
          <p:cNvSpPr/>
          <p:nvPr/>
        </p:nvSpPr>
        <p:spPr>
          <a:xfrm>
            <a:off x="3337560" y="2670048"/>
            <a:ext cx="2487168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检索高质量临床研究（RCT · meta分析 · 队列研究）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64408" y="3493008"/>
            <a:ext cx="2633472" cy="804672"/>
          </a:xfrm>
          <a:prstGeom prst="rect">
            <a:avLst/>
          </a:prstGeom>
          <a:solidFill>
            <a:srgbClr val="F4FAFB"/>
          </a:solidFill>
        </p:spPr>
      </p:sp>
      <p:sp>
        <p:nvSpPr>
          <p:cNvPr id="24" name="Text 22"/>
          <p:cNvSpPr/>
          <p:nvPr/>
        </p:nvSpPr>
        <p:spPr>
          <a:xfrm>
            <a:off x="3337560" y="3557016"/>
            <a:ext cx="2487168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过滤近5年文献，优先纳入大样本、高影响因子研究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63056" y="1261872"/>
            <a:ext cx="2834640" cy="36118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1261872"/>
            <a:ext cx="2834640" cy="384048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27" name="Text 25"/>
          <p:cNvSpPr/>
          <p:nvPr/>
        </p:nvSpPr>
        <p:spPr>
          <a:xfrm>
            <a:off x="6254496" y="1261872"/>
            <a:ext cx="2651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证据分级与标注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54496" y="1719072"/>
            <a:ext cx="2633472" cy="804672"/>
          </a:xfrm>
          <a:prstGeom prst="rect">
            <a:avLst/>
          </a:prstGeom>
          <a:solidFill>
            <a:srgbClr val="F4FAFB"/>
          </a:solidFill>
        </p:spPr>
      </p:sp>
      <p:sp>
        <p:nvSpPr>
          <p:cNvPr id="29" name="Text 27"/>
          <p:cNvSpPr/>
          <p:nvPr/>
        </p:nvSpPr>
        <p:spPr>
          <a:xfrm>
            <a:off x="6327648" y="1783080"/>
            <a:ext cx="2487168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对每条证据标注：RCT &gt; meta分析 &gt; 专家共识 &gt; 病例研究 &gt; 专家意见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54496" y="2606040"/>
            <a:ext cx="2633472" cy="804672"/>
          </a:xfrm>
          <a:prstGeom prst="rect">
            <a:avLst/>
          </a:prstGeom>
          <a:solidFill>
            <a:srgbClr val="EDF6F8"/>
          </a:solidFill>
        </p:spPr>
      </p:sp>
      <p:sp>
        <p:nvSpPr>
          <p:cNvPr id="31" name="Text 29"/>
          <p:cNvSpPr/>
          <p:nvPr/>
        </p:nvSpPr>
        <p:spPr>
          <a:xfrm>
            <a:off x="6327648" y="2670048"/>
            <a:ext cx="2487168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每项配置附带：来源文档 + 页码/条款 + 证据级别 + 置信度（高/中/低）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54496" y="3493008"/>
            <a:ext cx="2633472" cy="804672"/>
          </a:xfrm>
          <a:prstGeom prst="rect">
            <a:avLst/>
          </a:prstGeom>
          <a:solidFill>
            <a:srgbClr val="F4FAFB"/>
          </a:solidFill>
        </p:spPr>
      </p:sp>
      <p:sp>
        <p:nvSpPr>
          <p:cNvPr id="33" name="Text 31"/>
          <p:cNvSpPr/>
          <p:nvPr/>
        </p:nvSpPr>
        <p:spPr>
          <a:xfrm>
            <a:off x="6327648" y="3557016"/>
            <a:ext cx="2487168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证据冲突时自动标注，必须由医生手动裁定，不允许AI自动选择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2880" y="4892040"/>
            <a:ext cx="8778240" cy="182880"/>
          </a:xfrm>
          <a:prstGeom prst="rect">
            <a:avLst/>
          </a:prstGeom>
          <a:solidFill>
            <a:srgbClr val="FFF0E8"/>
          </a:solidFill>
        </p:spPr>
      </p:sp>
      <p:sp>
        <p:nvSpPr>
          <p:cNvPr id="35" name="Shape 33"/>
          <p:cNvSpPr/>
          <p:nvPr/>
        </p:nvSpPr>
        <p:spPr>
          <a:xfrm>
            <a:off x="182880" y="4892040"/>
            <a:ext cx="164592" cy="182880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36" name="Text 34"/>
          <p:cNvSpPr/>
          <p:nvPr/>
        </p:nvSpPr>
        <p:spPr>
          <a:xfrm>
            <a:off x="384048" y="4892040"/>
            <a:ext cx="8549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762E"/>
                </a:solidFill>
              </a:rPr>
              <a:t>人工介入点：证据冲突项必须由医生手动裁定；裁定结果写入病种知识库，形成荣科专属立场。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E3C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69494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Disease Skill：结构与版本管理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5" name="Text 3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病种知识IP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2880" y="841248"/>
            <a:ext cx="8778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每个病种方案经医生审核确认后，输出为结构化的Disease Skill并分配版本号。它是整个体系最核心的知识产出，也是商业化Agent的输入。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82880" y="1234440"/>
          <a:ext cx="8778240" cy="3474720"/>
        </p:xfrm>
        <a:graphic>
          <a:graphicData uri="http://schemas.openxmlformats.org/drawingml/2006/table">
            <a:tbl>
              <a:tblPr/>
              <a:tblGrid>
                <a:gridCol w="1371600"/>
                <a:gridCol w="2651760"/>
                <a:gridCol w="1463040"/>
                <a:gridCol w="329184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Skill组件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内容说明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证据来源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生成方式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4F6C"/>
                          </a:solidFill>
                        </a:rPr>
                        <a:t>病种基础信息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定义·目标人群·主要风险·ICD编码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490"/>
                          </a:solidFill>
                        </a:rPr>
                        <a:t>权威指南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AI提取+医生确认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4F6C"/>
                          </a:solidFill>
                        </a:rPr>
                        <a:t>患者分型定义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分型标准·各型特征·判断规则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490"/>
                          </a:solidFill>
                        </a:rPr>
                        <a:t>临床共识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症状监测Agent+医生确认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4F6C"/>
                          </a:solidFill>
                        </a:rPr>
                        <a:t>管理路径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时间轴节点·干预动作·路径分支逻辑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490"/>
                          </a:solidFill>
                        </a:rPr>
                        <a:t>指南+文献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各服务Agent协作+医生审核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4F6C"/>
                          </a:solidFill>
                        </a:rPr>
                        <a:t>预警规则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监测指标·阈值设置·升级逻辑·处置SOP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490"/>
                          </a:solidFill>
                        </a:rPr>
                        <a:t>RCT证据优先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症状监测Agent+医生确认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4F6C"/>
                          </a:solidFill>
                        </a:rPr>
                        <a:t>评估量表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适用量表·评分规则·结果解读·触发动作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490"/>
                          </a:solidFill>
                        </a:rPr>
                        <a:t>量表标准文献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各Agent推荐+医生选定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4F6C"/>
                          </a:solidFill>
                        </a:rPr>
                        <a:t>随访问卷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各阶段问卷·题型·评分逻辑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490"/>
                          </a:solidFill>
                        </a:rPr>
                        <a:t>内部效果数据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随访Agent+运营确认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4F6C"/>
                          </a:solidFill>
                        </a:rPr>
                        <a:t>患教内容方案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内容清单·推送时间表·形式规格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490"/>
                          </a:solidFill>
                        </a:rPr>
                        <a:t>内容阅读率数据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患教Agent+运营确认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4F6C"/>
                          </a:solidFill>
                        </a:rPr>
                        <a:t>话术脚本库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AI随访话术·标准问答·升级话术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490"/>
                          </a:solidFill>
                        </a:rPr>
                        <a:t>问答准确率数据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随访Agent+知识库+医生审核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4F6C"/>
                          </a:solidFill>
                        </a:rPr>
                        <a:t>提醒模板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各场景话术·渠道配置·发送规则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490"/>
                          </a:solidFill>
                        </a:rPr>
                        <a:t>响应率数据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各服务Agent+运营确认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182880" y="4736592"/>
            <a:ext cx="8778240" cy="228600"/>
          </a:xfrm>
          <a:prstGeom prst="rect">
            <a:avLst/>
          </a:prstGeom>
          <a:solidFill>
            <a:srgbClr val="0A2E3C"/>
          </a:solidFill>
        </p:spPr>
      </p:sp>
      <p:sp>
        <p:nvSpPr>
          <p:cNvPr id="9" name="Text 6"/>
          <p:cNvSpPr/>
          <p:nvPr/>
        </p:nvSpPr>
        <p:spPr>
          <a:xfrm>
            <a:off x="274320" y="4736592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D6A0"/>
                </a:solidFill>
              </a:rPr>
              <a:t>版本管理：每次Skill更新产生新版本号，记录"谁改的·改了什么·为什么改·改后效果"。进行中的患者保持原版本，新患者自动使用最新版本。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E3C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69494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知识库体系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5" name="Text 3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四层架构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2880" y="841248"/>
            <a:ext cx="8778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不是某个Agent的功能，而是整个平台正常运转的前提条件。所有Agent的知识查询通过统一接口，返回时必须附带来源溯源和置信度。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2057400" cy="363016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234440"/>
            <a:ext cx="2057400" cy="347472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9" name="Text 7"/>
          <p:cNvSpPr/>
          <p:nvPr/>
        </p:nvSpPr>
        <p:spPr>
          <a:xfrm>
            <a:off x="256032" y="1234440"/>
            <a:ext cx="1965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来源层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645920"/>
            <a:ext cx="1911096" cy="566928"/>
          </a:xfrm>
          <a:prstGeom prst="rect">
            <a:avLst/>
          </a:prstGeom>
          <a:solidFill>
            <a:srgbClr val="F2F9FB"/>
          </a:solidFill>
        </p:spPr>
      </p:sp>
      <p:sp>
        <p:nvSpPr>
          <p:cNvPr id="11" name="Text 9"/>
          <p:cNvSpPr/>
          <p:nvPr/>
        </p:nvSpPr>
        <p:spPr>
          <a:xfrm>
            <a:off x="301752" y="1691640"/>
            <a:ext cx="1819656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临床指南库（CSCO·NCCN·WHO·各学会指南）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2276856"/>
            <a:ext cx="1911096" cy="566928"/>
          </a:xfrm>
          <a:prstGeom prst="rect">
            <a:avLst/>
          </a:prstGeom>
          <a:solidFill>
            <a:srgbClr val="EBF5F7"/>
          </a:solidFill>
        </p:spPr>
      </p:sp>
      <p:sp>
        <p:nvSpPr>
          <p:cNvPr id="13" name="Text 11"/>
          <p:cNvSpPr/>
          <p:nvPr/>
        </p:nvSpPr>
        <p:spPr>
          <a:xfrm>
            <a:off x="301752" y="2322576"/>
            <a:ext cx="1819656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专家共识库（各专科学会共识文件）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2907792"/>
            <a:ext cx="1911096" cy="566928"/>
          </a:xfrm>
          <a:prstGeom prst="rect">
            <a:avLst/>
          </a:prstGeom>
          <a:solidFill>
            <a:srgbClr val="F2F9FB"/>
          </a:solidFill>
        </p:spPr>
      </p:sp>
      <p:sp>
        <p:nvSpPr>
          <p:cNvPr id="15" name="Text 13"/>
          <p:cNvSpPr/>
          <p:nvPr/>
        </p:nvSpPr>
        <p:spPr>
          <a:xfrm>
            <a:off x="301752" y="2953512"/>
            <a:ext cx="1819656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学术文献库（CNKI·PubMed，近5年高质量研究）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3538728"/>
            <a:ext cx="1911096" cy="566928"/>
          </a:xfrm>
          <a:prstGeom prst="rect">
            <a:avLst/>
          </a:prstGeom>
          <a:solidFill>
            <a:srgbClr val="EBF5F7"/>
          </a:solidFill>
        </p:spPr>
      </p:sp>
      <p:sp>
        <p:nvSpPr>
          <p:cNvPr id="17" name="Text 15"/>
          <p:cNvSpPr/>
          <p:nvPr/>
        </p:nvSpPr>
        <p:spPr>
          <a:xfrm>
            <a:off x="301752" y="3584448"/>
            <a:ext cx="1819656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内部沉淀库（医生审核Q&amp;A·干预效果记录）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4169664"/>
            <a:ext cx="1911096" cy="566928"/>
          </a:xfrm>
          <a:prstGeom prst="rect">
            <a:avLst/>
          </a:prstGeom>
          <a:solidFill>
            <a:srgbClr val="F2F9FB"/>
          </a:solidFill>
        </p:spPr>
      </p:sp>
      <p:sp>
        <p:nvSpPr>
          <p:cNvPr id="19" name="Text 17"/>
          <p:cNvSpPr/>
          <p:nvPr/>
        </p:nvSpPr>
        <p:spPr>
          <a:xfrm>
            <a:off x="301752" y="4215384"/>
            <a:ext cx="1819656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外部参考库（教科书·权威综述，辅助参考）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331720" y="1234440"/>
            <a:ext cx="2057400" cy="363016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331720" y="1234440"/>
            <a:ext cx="2057400" cy="347472"/>
          </a:xfrm>
          <a:prstGeom prst="rect">
            <a:avLst/>
          </a:prstGeom>
          <a:solidFill>
            <a:srgbClr val="0FA3B1"/>
          </a:solidFill>
        </p:spPr>
      </p:sp>
      <p:sp>
        <p:nvSpPr>
          <p:cNvPr id="22" name="Text 20"/>
          <p:cNvSpPr/>
          <p:nvPr/>
        </p:nvSpPr>
        <p:spPr>
          <a:xfrm>
            <a:off x="2404872" y="1234440"/>
            <a:ext cx="1965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处理层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404872" y="1645920"/>
            <a:ext cx="1911096" cy="566928"/>
          </a:xfrm>
          <a:prstGeom prst="rect">
            <a:avLst/>
          </a:prstGeom>
          <a:solidFill>
            <a:srgbClr val="F2F9FB"/>
          </a:solidFill>
        </p:spPr>
      </p:sp>
      <p:sp>
        <p:nvSpPr>
          <p:cNvPr id="24" name="Text 22"/>
          <p:cNvSpPr/>
          <p:nvPr/>
        </p:nvSpPr>
        <p:spPr>
          <a:xfrm>
            <a:off x="2450592" y="1691640"/>
            <a:ext cx="1819656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文档解析（OCR+LLM，准确率&gt;95%，多语言）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04872" y="2276856"/>
            <a:ext cx="1911096" cy="566928"/>
          </a:xfrm>
          <a:prstGeom prst="rect">
            <a:avLst/>
          </a:prstGeom>
          <a:solidFill>
            <a:srgbClr val="EBF5F7"/>
          </a:solidFill>
        </p:spPr>
      </p:sp>
      <p:sp>
        <p:nvSpPr>
          <p:cNvPr id="26" name="Text 24"/>
          <p:cNvSpPr/>
          <p:nvPr/>
        </p:nvSpPr>
        <p:spPr>
          <a:xfrm>
            <a:off x="2450592" y="2322576"/>
            <a:ext cx="1819656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知识结构化：实体识别·关系抽取·语义向量化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04872" y="2907792"/>
            <a:ext cx="1911096" cy="566928"/>
          </a:xfrm>
          <a:prstGeom prst="rect">
            <a:avLst/>
          </a:prstGeom>
          <a:solidFill>
            <a:srgbClr val="F2F9FB"/>
          </a:solidFill>
        </p:spPr>
      </p:sp>
      <p:sp>
        <p:nvSpPr>
          <p:cNvPr id="28" name="Text 26"/>
          <p:cNvSpPr/>
          <p:nvPr/>
        </p:nvSpPr>
        <p:spPr>
          <a:xfrm>
            <a:off x="2450592" y="2953512"/>
            <a:ext cx="1819656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知识图谱：节点关联可视化，用于冲突检测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04872" y="3538728"/>
            <a:ext cx="1911096" cy="566928"/>
          </a:xfrm>
          <a:prstGeom prst="rect">
            <a:avLst/>
          </a:prstGeom>
          <a:solidFill>
            <a:srgbClr val="EBF5F7"/>
          </a:solidFill>
        </p:spPr>
      </p:sp>
      <p:sp>
        <p:nvSpPr>
          <p:cNvPr id="30" name="Text 28"/>
          <p:cNvSpPr/>
          <p:nvPr/>
        </p:nvSpPr>
        <p:spPr>
          <a:xfrm>
            <a:off x="2450592" y="3584448"/>
            <a:ext cx="1819656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去重与冲突检测：合并最高证据级别版本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04872" y="4169664"/>
            <a:ext cx="1911096" cy="566928"/>
          </a:xfrm>
          <a:prstGeom prst="rect">
            <a:avLst/>
          </a:prstGeom>
          <a:solidFill>
            <a:srgbClr val="F2F9FB"/>
          </a:solidFill>
        </p:spPr>
      </p:sp>
      <p:sp>
        <p:nvSpPr>
          <p:cNvPr id="32" name="Text 30"/>
          <p:cNvSpPr/>
          <p:nvPr/>
        </p:nvSpPr>
        <p:spPr>
          <a:xfrm>
            <a:off x="2450592" y="4215384"/>
            <a:ext cx="1819656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证据分级（I-V级）·权重编码入向量库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480560" y="1234440"/>
            <a:ext cx="2057400" cy="363016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80560" y="1234440"/>
            <a:ext cx="2057400" cy="347472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35" name="Text 33"/>
          <p:cNvSpPr/>
          <p:nvPr/>
        </p:nvSpPr>
        <p:spPr>
          <a:xfrm>
            <a:off x="4553712" y="1234440"/>
            <a:ext cx="1965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维护层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53712" y="1645920"/>
            <a:ext cx="1911096" cy="566928"/>
          </a:xfrm>
          <a:prstGeom prst="rect">
            <a:avLst/>
          </a:prstGeom>
          <a:solidFill>
            <a:srgbClr val="F2F9FB"/>
          </a:solidFill>
        </p:spPr>
      </p:sp>
      <p:sp>
        <p:nvSpPr>
          <p:cNvPr id="37" name="Text 35"/>
          <p:cNvSpPr/>
          <p:nvPr/>
        </p:nvSpPr>
        <p:spPr>
          <a:xfrm>
            <a:off x="4599432" y="1691640"/>
            <a:ext cx="1819656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指南更新监测：自动检测版本差异，推送提醒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53712" y="2276856"/>
            <a:ext cx="1911096" cy="566928"/>
          </a:xfrm>
          <a:prstGeom prst="rect">
            <a:avLst/>
          </a:prstGeom>
          <a:solidFill>
            <a:srgbClr val="EBF5F7"/>
          </a:solidFill>
        </p:spPr>
      </p:sp>
      <p:sp>
        <p:nvSpPr>
          <p:cNvPr id="39" name="Text 37"/>
          <p:cNvSpPr/>
          <p:nvPr/>
        </p:nvSpPr>
        <p:spPr>
          <a:xfrm>
            <a:off x="4599432" y="2322576"/>
            <a:ext cx="1819656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知识缺口识别：月度生成"知识盲区清单"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53712" y="2907792"/>
            <a:ext cx="1911096" cy="566928"/>
          </a:xfrm>
          <a:prstGeom prst="rect">
            <a:avLst/>
          </a:prstGeom>
          <a:solidFill>
            <a:srgbClr val="F2F9FB"/>
          </a:solidFill>
        </p:spPr>
      </p:sp>
      <p:sp>
        <p:nvSpPr>
          <p:cNvPr id="41" name="Text 39"/>
          <p:cNvSpPr/>
          <p:nvPr/>
        </p:nvSpPr>
        <p:spPr>
          <a:xfrm>
            <a:off x="4599432" y="2953512"/>
            <a:ext cx="1819656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错误反馈修正：错误答案降权+待审队列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53712" y="3538728"/>
            <a:ext cx="1911096" cy="566928"/>
          </a:xfrm>
          <a:prstGeom prst="rect">
            <a:avLst/>
          </a:prstGeom>
          <a:solidFill>
            <a:srgbClr val="EBF5F7"/>
          </a:solidFill>
        </p:spPr>
      </p:sp>
      <p:sp>
        <p:nvSpPr>
          <p:cNvPr id="43" name="Text 41"/>
          <p:cNvSpPr/>
          <p:nvPr/>
        </p:nvSpPr>
        <p:spPr>
          <a:xfrm>
            <a:off x="4599432" y="3584448"/>
            <a:ext cx="1819656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知识过期检测：指南类3年·文献类5年复审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53712" y="4169664"/>
            <a:ext cx="1911096" cy="566928"/>
          </a:xfrm>
          <a:prstGeom prst="rect">
            <a:avLst/>
          </a:prstGeom>
          <a:solidFill>
            <a:srgbClr val="F2F9FB"/>
          </a:solidFill>
        </p:spPr>
      </p:sp>
      <p:sp>
        <p:nvSpPr>
          <p:cNvPr id="45" name="Text 43"/>
          <p:cNvSpPr/>
          <p:nvPr/>
        </p:nvSpPr>
        <p:spPr>
          <a:xfrm>
            <a:off x="4599432" y="4215384"/>
            <a:ext cx="1819656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内部经验沉淀：医学委员会定期归档认可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629400" y="1234440"/>
            <a:ext cx="2331720" cy="363016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629400" y="1234440"/>
            <a:ext cx="2331720" cy="347472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48" name="Text 46"/>
          <p:cNvSpPr/>
          <p:nvPr/>
        </p:nvSpPr>
        <p:spPr>
          <a:xfrm>
            <a:off x="6702552" y="1234440"/>
            <a:ext cx="2240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服务层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702552" y="1645920"/>
            <a:ext cx="2185416" cy="566928"/>
          </a:xfrm>
          <a:prstGeom prst="rect">
            <a:avLst/>
          </a:prstGeom>
          <a:solidFill>
            <a:srgbClr val="F2F9FB"/>
          </a:solidFill>
        </p:spPr>
      </p:sp>
      <p:sp>
        <p:nvSpPr>
          <p:cNvPr id="50" name="Text 48"/>
          <p:cNvSpPr/>
          <p:nvPr/>
        </p:nvSpPr>
        <p:spPr>
          <a:xfrm>
            <a:off x="6748272" y="1691640"/>
            <a:ext cx="2093976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统一知识检索接口（全Agent共用）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702552" y="2276856"/>
            <a:ext cx="2185416" cy="566928"/>
          </a:xfrm>
          <a:prstGeom prst="rect">
            <a:avLst/>
          </a:prstGeom>
          <a:solidFill>
            <a:srgbClr val="EBF5F7"/>
          </a:solidFill>
        </p:spPr>
      </p:sp>
      <p:sp>
        <p:nvSpPr>
          <p:cNvPr id="52" name="Text 50"/>
          <p:cNvSpPr/>
          <p:nvPr/>
        </p:nvSpPr>
        <p:spPr>
          <a:xfrm>
            <a:off x="6748272" y="2322576"/>
            <a:ext cx="2093976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RAG检索·上下文注入至Agent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702552" y="2907792"/>
            <a:ext cx="2185416" cy="566928"/>
          </a:xfrm>
          <a:prstGeom prst="rect">
            <a:avLst/>
          </a:prstGeom>
          <a:solidFill>
            <a:srgbClr val="F2F9FB"/>
          </a:solidFill>
        </p:spPr>
      </p:sp>
      <p:sp>
        <p:nvSpPr>
          <p:cNvPr id="54" name="Text 52"/>
          <p:cNvSpPr/>
          <p:nvPr/>
        </p:nvSpPr>
        <p:spPr>
          <a:xfrm>
            <a:off x="6748272" y="2953512"/>
            <a:ext cx="2093976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来源文档：精确到指南名称·版本·章节·条款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702552" y="3538728"/>
            <a:ext cx="2185416" cy="566928"/>
          </a:xfrm>
          <a:prstGeom prst="rect">
            <a:avLst/>
          </a:prstGeom>
          <a:solidFill>
            <a:srgbClr val="EBF5F7"/>
          </a:solidFill>
        </p:spPr>
      </p:sp>
      <p:sp>
        <p:nvSpPr>
          <p:cNvPr id="56" name="Text 54"/>
          <p:cNvSpPr/>
          <p:nvPr/>
        </p:nvSpPr>
        <p:spPr>
          <a:xfrm>
            <a:off x="6748272" y="3584448"/>
            <a:ext cx="2093976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证据等级标注（I-V级）·高等级优先排序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702552" y="4169664"/>
            <a:ext cx="2185416" cy="566928"/>
          </a:xfrm>
          <a:prstGeom prst="rect">
            <a:avLst/>
          </a:prstGeom>
          <a:solidFill>
            <a:srgbClr val="F2F9FB"/>
          </a:solidFill>
        </p:spPr>
      </p:sp>
      <p:sp>
        <p:nvSpPr>
          <p:cNvPr id="58" name="Text 56"/>
          <p:cNvSpPr/>
          <p:nvPr/>
        </p:nvSpPr>
        <p:spPr>
          <a:xfrm>
            <a:off x="6748272" y="4215384"/>
            <a:ext cx="2093976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置信度输出：低置信度自动推人工复核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103120" y="2788920"/>
            <a:ext cx="29260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C5CF"/>
                </a:solidFill>
              </a:rPr>
              <a:t>→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4251960" y="2788920"/>
            <a:ext cx="29260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C5CF"/>
                </a:solidFill>
              </a:rPr>
              <a:t>→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6400800" y="2788920"/>
            <a:ext cx="29260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C5CF"/>
                </a:solidFill>
              </a:rPr>
              <a:t>→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82880" y="4892040"/>
            <a:ext cx="8778240" cy="182880"/>
          </a:xfrm>
          <a:prstGeom prst="rect">
            <a:avLst/>
          </a:prstGeom>
          <a:solidFill>
            <a:srgbClr val="0A2E3C"/>
          </a:solidFill>
        </p:spPr>
      </p:sp>
      <p:sp>
        <p:nvSpPr>
          <p:cNvPr id="63" name="Text 6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D6A0"/>
                </a:solidFill>
              </a:rPr>
              <a:t>设计原则：Agent不能只给答案，必须说明来源。来源文档 · 证据级别 · 置信度三要素缺一不可，是荣科平台区别于普通AI问答的核心安全机制。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E3C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69494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运营智能分析 Agent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（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后期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）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5" name="Text 3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群体洞察·效能评估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2880" y="841248"/>
            <a:ext cx="8778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不服务单个患者——它是平台的"数据大脑"，将分散执行数据汇聚成可决策的洞察，驱动疾病规划Agent和商业化Agent的持续优化。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5212080" cy="121615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234440"/>
            <a:ext cx="182880" cy="1216152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9" name="Text 7"/>
          <p:cNvSpPr/>
          <p:nvPr/>
        </p:nvSpPr>
        <p:spPr>
          <a:xfrm>
            <a:off x="402336" y="1289304"/>
            <a:ext cx="4846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3041"/>
                </a:solidFill>
              </a:rPr>
              <a:t>患者群体分析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" y="1572768"/>
            <a:ext cx="484632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队列分析：同病种不同分型患者健康指标改善对比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干预效果分析：哪类随访话术·哪种提醒时机·哪种内容对依从性提升效果最好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风险分层：识别哪类患者特征与并发症高风险相关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输出：最优干预策略矩阵 → 推送给疾病规划Agent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2542032"/>
            <a:ext cx="5212080" cy="121615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2542032"/>
            <a:ext cx="182880" cy="1216152"/>
          </a:xfrm>
          <a:prstGeom prst="rect">
            <a:avLst/>
          </a:prstGeom>
          <a:solidFill>
            <a:srgbClr val="0FA3B1"/>
          </a:solidFill>
        </p:spPr>
      </p:sp>
      <p:sp>
        <p:nvSpPr>
          <p:cNvPr id="13" name="Text 11"/>
          <p:cNvSpPr/>
          <p:nvPr/>
        </p:nvSpPr>
        <p:spPr>
          <a:xfrm>
            <a:off x="402336" y="2596896"/>
            <a:ext cx="4846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3041"/>
                </a:solidFill>
              </a:rPr>
              <a:t>团队效能分析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" y="2880360"/>
            <a:ext cx="484632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各角色实际工作量vs预测值，识别"超载"和"空转"角色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Agent自主处理率趋势（L1占比是否持续提升）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随访完成率、预警处置率个人&amp;团队看板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输出：人力配置优化建议 → 推送商业化Agent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" y="3840480"/>
            <a:ext cx="5212080" cy="121615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3840480"/>
            <a:ext cx="182880" cy="1216152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17" name="Text 15"/>
          <p:cNvSpPr/>
          <p:nvPr/>
        </p:nvSpPr>
        <p:spPr>
          <a:xfrm>
            <a:off x="402336" y="3895344"/>
            <a:ext cx="4846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3041"/>
                </a:solidFill>
              </a:rPr>
              <a:t>服务质量 + 成本效益分析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" y="4178808"/>
            <a:ext cx="484632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预警准确率趋势（真阳性率、误报率、漏报率分病种追踪）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各服务项人力成本·Agent运行成本·单患者综合成本测算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服务包ROI分析：哪个包成本最优、患者续费率最高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77840" y="1216152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490"/>
                </a:solidFill>
              </a:rPr>
              <a:t>输出联动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1554480"/>
            <a:ext cx="3383280" cy="585216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77840" y="1554480"/>
            <a:ext cx="164592" cy="585216"/>
          </a:xfrm>
          <a:prstGeom prst="rect">
            <a:avLst/>
          </a:prstGeom>
          <a:solidFill>
            <a:srgbClr val="0FA3B1"/>
          </a:solidFill>
        </p:spPr>
      </p:sp>
      <p:sp>
        <p:nvSpPr>
          <p:cNvPr id="22" name="Text 20"/>
          <p:cNvSpPr/>
          <p:nvPr/>
        </p:nvSpPr>
        <p:spPr>
          <a:xfrm>
            <a:off x="5779008" y="1609344"/>
            <a:ext cx="2286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疾病</a:t>
            </a:r>
            <a:r>
              <a:rPr lang="zh-CN" altLang="en-US" sz="1000" b="1" dirty="0">
                <a:solidFill>
                  <a:srgbClr val="1C3041"/>
                </a:solidFill>
              </a:rPr>
              <a:t>健康管理</a:t>
            </a:r>
            <a:r>
              <a:rPr lang="en-US" sz="1000" b="1" dirty="0">
                <a:solidFill>
                  <a:srgbClr val="1C3041"/>
                </a:solidFill>
              </a:rPr>
              <a:t>规划Agent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79008" y="1847088"/>
            <a:ext cx="2194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</a:rPr>
              <a:t>最优干预策略矩阵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321040" y="1673352"/>
            <a:ext cx="594360" cy="338328"/>
          </a:xfrm>
          <a:prstGeom prst="rect">
            <a:avLst/>
          </a:prstGeom>
          <a:solidFill>
            <a:srgbClr val="0FA3B1"/>
          </a:solidFill>
        </p:spPr>
      </p:sp>
      <p:sp>
        <p:nvSpPr>
          <p:cNvPr id="25" name="Text 23"/>
          <p:cNvSpPr/>
          <p:nvPr/>
        </p:nvSpPr>
        <p:spPr>
          <a:xfrm>
            <a:off x="8321040" y="1673352"/>
            <a:ext cx="59436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月度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77840" y="2212848"/>
            <a:ext cx="3383280" cy="585216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2212848"/>
            <a:ext cx="164592" cy="585216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28" name="Text 26"/>
          <p:cNvSpPr/>
          <p:nvPr/>
        </p:nvSpPr>
        <p:spPr>
          <a:xfrm>
            <a:off x="5779008" y="2267712"/>
            <a:ext cx="2286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服务助理Agent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79008" y="2505456"/>
            <a:ext cx="2194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</a:rPr>
              <a:t>话术·时机·频率优化建议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321040" y="2331720"/>
            <a:ext cx="594360" cy="338328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31" name="Text 29"/>
          <p:cNvSpPr/>
          <p:nvPr/>
        </p:nvSpPr>
        <p:spPr>
          <a:xfrm>
            <a:off x="8321040" y="2331720"/>
            <a:ext cx="59436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月度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77840" y="2871216"/>
            <a:ext cx="3383280" cy="585216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77840" y="2871216"/>
            <a:ext cx="164592" cy="585216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34" name="Text 32"/>
          <p:cNvSpPr/>
          <p:nvPr/>
        </p:nvSpPr>
        <p:spPr>
          <a:xfrm>
            <a:off x="5779008" y="2926080"/>
            <a:ext cx="2286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商业化Agent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79008" y="3163824"/>
            <a:ext cx="2194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</a:rPr>
              <a:t>服务利用率·成本结构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321040" y="2990088"/>
            <a:ext cx="594360" cy="338328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37" name="Text 35"/>
          <p:cNvSpPr/>
          <p:nvPr/>
        </p:nvSpPr>
        <p:spPr>
          <a:xfrm>
            <a:off x="8321040" y="2990088"/>
            <a:ext cx="59436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季度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77840" y="3529584"/>
            <a:ext cx="3383280" cy="585216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77840" y="3529584"/>
            <a:ext cx="164592" cy="585216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40" name="Text 38"/>
          <p:cNvSpPr/>
          <p:nvPr/>
        </p:nvSpPr>
        <p:spPr>
          <a:xfrm>
            <a:off x="5779008" y="3584448"/>
            <a:ext cx="2286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知识库体系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79008" y="3822192"/>
            <a:ext cx="2194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</a:rPr>
              <a:t>知识缺口清单·高频未答问题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321040" y="3648456"/>
            <a:ext cx="594360" cy="338328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43" name="Text 41"/>
          <p:cNvSpPr/>
          <p:nvPr/>
        </p:nvSpPr>
        <p:spPr>
          <a:xfrm>
            <a:off x="8321040" y="3648456"/>
            <a:ext cx="59436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月度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577840" y="4187952"/>
            <a:ext cx="3383280" cy="585216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577840" y="4187952"/>
            <a:ext cx="164592" cy="585216"/>
          </a:xfrm>
          <a:prstGeom prst="rect">
            <a:avLst/>
          </a:prstGeom>
          <a:solidFill>
            <a:srgbClr val="E9B44C"/>
          </a:solidFill>
        </p:spPr>
      </p:sp>
      <p:sp>
        <p:nvSpPr>
          <p:cNvPr id="46" name="Text 44"/>
          <p:cNvSpPr/>
          <p:nvPr/>
        </p:nvSpPr>
        <p:spPr>
          <a:xfrm>
            <a:off x="5779008" y="4242816"/>
            <a:ext cx="2286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管理层看板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779008" y="4480560"/>
            <a:ext cx="2194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</a:rPr>
              <a:t>月度/季度运营报告（可视化）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321040" y="4306824"/>
            <a:ext cx="594360" cy="338328"/>
          </a:xfrm>
          <a:prstGeom prst="rect">
            <a:avLst/>
          </a:prstGeom>
          <a:solidFill>
            <a:srgbClr val="E9B44C"/>
          </a:solidFill>
        </p:spPr>
      </p:sp>
      <p:sp>
        <p:nvSpPr>
          <p:cNvPr id="49" name="Text 47"/>
          <p:cNvSpPr/>
          <p:nvPr/>
        </p:nvSpPr>
        <p:spPr>
          <a:xfrm>
            <a:off x="8321040" y="4306824"/>
            <a:ext cx="59436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定期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E3C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69494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后台：商业化 Agent（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后期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）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5" name="Text 3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3个子Agent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2880" y="841248"/>
            <a:ext cx="8778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读取两类核心输入：Disease Skill（知道能提供什么服务）+ 运营分析数据（知道实际成本与效果）。缺少任何一方都会导致方案失真。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2834640" cy="37490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234440"/>
            <a:ext cx="2834640" cy="402336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9" name="Text 7"/>
          <p:cNvSpPr/>
          <p:nvPr/>
        </p:nvSpPr>
        <p:spPr>
          <a:xfrm>
            <a:off x="274320" y="1234440"/>
            <a:ext cx="26517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服务</a:t>
            </a:r>
            <a:r>
              <a:rPr lang="zh-CN" altLang="en-US" sz="1100" b="1" dirty="0">
                <a:solidFill>
                  <a:srgbClr val="FFFFFF"/>
                </a:solidFill>
              </a:rPr>
              <a:t>权益</a:t>
            </a:r>
            <a:r>
              <a:rPr lang="en-US" sz="1100" b="1" dirty="0">
                <a:solidFill>
                  <a:srgbClr val="FFFFFF"/>
                </a:solidFill>
              </a:rPr>
              <a:t>方案 Agent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00784"/>
            <a:ext cx="2651760" cy="1005840"/>
          </a:xfrm>
          <a:prstGeom prst="rect">
            <a:avLst/>
          </a:prstGeom>
          <a:solidFill>
            <a:srgbClr val="F2F8FA"/>
          </a:solidFill>
        </p:spPr>
      </p:sp>
      <p:sp>
        <p:nvSpPr>
          <p:cNvPr id="11" name="Text 9"/>
          <p:cNvSpPr/>
          <p:nvPr/>
        </p:nvSpPr>
        <p:spPr>
          <a:xfrm>
            <a:off x="320040" y="1746504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490"/>
                </a:solidFill>
              </a:rPr>
              <a:t>AI生成内容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1956816"/>
            <a:ext cx="256032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生成3个差异化服务</a:t>
            </a:r>
            <a:r>
              <a:rPr lang="zh-CN" alt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权益</a:t>
            </a: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（基础/标准/高级）含服务项·频率·时效·渠道·成本估算·定价建议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770632"/>
            <a:ext cx="2651760" cy="1005840"/>
          </a:xfrm>
          <a:prstGeom prst="rect">
            <a:avLst/>
          </a:prstGeom>
          <a:solidFill>
            <a:srgbClr val="EEF5F7"/>
          </a:solidFill>
        </p:spPr>
      </p:sp>
      <p:sp>
        <p:nvSpPr>
          <p:cNvPr id="14" name="Text 12"/>
          <p:cNvSpPr/>
          <p:nvPr/>
        </p:nvSpPr>
        <p:spPr>
          <a:xfrm>
            <a:off x="320040" y="2816352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490"/>
                </a:solidFill>
              </a:rPr>
              <a:t>关键输入来源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3026664"/>
            <a:ext cx="256032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Skill服务项清单 + 实际运营成本数据 + 市场参考定价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840480"/>
            <a:ext cx="2651760" cy="1005840"/>
          </a:xfrm>
          <a:prstGeom prst="rect">
            <a:avLst/>
          </a:prstGeom>
          <a:solidFill>
            <a:srgbClr val="FFF4EE"/>
          </a:solidFill>
        </p:spPr>
      </p:sp>
      <p:sp>
        <p:nvSpPr>
          <p:cNvPr id="17" name="Text 15"/>
          <p:cNvSpPr/>
          <p:nvPr/>
        </p:nvSpPr>
        <p:spPr>
          <a:xfrm>
            <a:off x="320040" y="3886200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490"/>
                </a:solidFill>
              </a:rPr>
              <a:t>人工审核要点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4096512"/>
            <a:ext cx="256032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产品/运营审核包结构合理性和定价；结合患者真实选择迭代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54680" y="1234440"/>
            <a:ext cx="2834640" cy="37490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1234440"/>
            <a:ext cx="2834640" cy="402336"/>
          </a:xfrm>
          <a:prstGeom prst="rect">
            <a:avLst/>
          </a:prstGeom>
          <a:solidFill>
            <a:srgbClr val="0FA3B1"/>
          </a:solidFill>
        </p:spPr>
      </p:sp>
      <p:sp>
        <p:nvSpPr>
          <p:cNvPr id="21" name="Text 19"/>
          <p:cNvSpPr/>
          <p:nvPr/>
        </p:nvSpPr>
        <p:spPr>
          <a:xfrm>
            <a:off x="3246120" y="1234440"/>
            <a:ext cx="26517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服务团队规划 Agent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1700784"/>
            <a:ext cx="2651760" cy="1005840"/>
          </a:xfrm>
          <a:prstGeom prst="rect">
            <a:avLst/>
          </a:prstGeom>
          <a:solidFill>
            <a:srgbClr val="F2F8FA"/>
          </a:solidFill>
        </p:spPr>
      </p:sp>
      <p:sp>
        <p:nvSpPr>
          <p:cNvPr id="23" name="Text 21"/>
          <p:cNvSpPr/>
          <p:nvPr/>
        </p:nvSpPr>
        <p:spPr>
          <a:xfrm>
            <a:off x="3291840" y="1746504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A3B1"/>
                </a:solidFill>
              </a:rPr>
              <a:t>AI生成内容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91840" y="1956816"/>
            <a:ext cx="256032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各角色人数建议·人均管理患者数上限·Agent与人工比例·工作量预测（按100/500/1000人规模）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46120" y="2770632"/>
            <a:ext cx="2651760" cy="1005840"/>
          </a:xfrm>
          <a:prstGeom prst="rect">
            <a:avLst/>
          </a:prstGeom>
          <a:solidFill>
            <a:srgbClr val="EEF5F7"/>
          </a:solidFill>
        </p:spPr>
      </p:sp>
      <p:sp>
        <p:nvSpPr>
          <p:cNvPr id="26" name="Text 24"/>
          <p:cNvSpPr/>
          <p:nvPr/>
        </p:nvSpPr>
        <p:spPr>
          <a:xfrm>
            <a:off x="3291840" y="2816352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A3B1"/>
                </a:solidFill>
              </a:rPr>
              <a:t>关键输入来源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91840" y="3026664"/>
            <a:ext cx="256032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Skill角色需求 + 服务包服务强度 + 历史工作量数据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46120" y="3840480"/>
            <a:ext cx="2651760" cy="1005840"/>
          </a:xfrm>
          <a:prstGeom prst="rect">
            <a:avLst/>
          </a:prstGeom>
          <a:solidFill>
            <a:srgbClr val="FFF4EE"/>
          </a:solidFill>
        </p:spPr>
      </p:sp>
      <p:sp>
        <p:nvSpPr>
          <p:cNvPr id="29" name="Text 27"/>
          <p:cNvSpPr/>
          <p:nvPr/>
        </p:nvSpPr>
        <p:spPr>
          <a:xfrm>
            <a:off x="3291840" y="3886200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A3B1"/>
                </a:solidFill>
              </a:rPr>
              <a:t>人工审核要点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91840" y="4096512"/>
            <a:ext cx="256032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团队负责人审核是否符合现有人力；实际承载量偏差&gt;20%触发重新评估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26480" y="1234440"/>
            <a:ext cx="2834640" cy="37490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234440"/>
            <a:ext cx="2834640" cy="402336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33" name="Text 31"/>
          <p:cNvSpPr/>
          <p:nvPr/>
        </p:nvSpPr>
        <p:spPr>
          <a:xfrm>
            <a:off x="6217920" y="1234440"/>
            <a:ext cx="26517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院方绩效规划 Agent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1700784"/>
            <a:ext cx="2651760" cy="1005840"/>
          </a:xfrm>
          <a:prstGeom prst="rect">
            <a:avLst/>
          </a:prstGeom>
          <a:solidFill>
            <a:srgbClr val="F2F8FA"/>
          </a:solidFill>
        </p:spPr>
      </p:sp>
      <p:sp>
        <p:nvSpPr>
          <p:cNvPr id="35" name="Text 33"/>
          <p:cNvSpPr/>
          <p:nvPr/>
        </p:nvSpPr>
        <p:spPr>
          <a:xfrm>
            <a:off x="6263640" y="1746504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D6A0"/>
                </a:solidFill>
              </a:rPr>
              <a:t>AI生成内容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63640" y="1956816"/>
            <a:ext cx="256032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绩效指标体系·激励分配机制（科室分成·医生加成·团队奖金）·数据看板设计方案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17920" y="2770632"/>
            <a:ext cx="2651760" cy="1005840"/>
          </a:xfrm>
          <a:prstGeom prst="rect">
            <a:avLst/>
          </a:prstGeom>
          <a:solidFill>
            <a:srgbClr val="EEF5F7"/>
          </a:solidFill>
        </p:spPr>
      </p:sp>
      <p:sp>
        <p:nvSpPr>
          <p:cNvPr id="38" name="Text 36"/>
          <p:cNvSpPr/>
          <p:nvPr/>
        </p:nvSpPr>
        <p:spPr>
          <a:xfrm>
            <a:off x="6263640" y="2816352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D6A0"/>
                </a:solidFill>
              </a:rPr>
              <a:t>关键输入来源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63640" y="3026664"/>
            <a:ext cx="256032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Skill服务内容 + 院方科室现状 + 运营效果数据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17920" y="3840480"/>
            <a:ext cx="2651760" cy="1005840"/>
          </a:xfrm>
          <a:prstGeom prst="rect">
            <a:avLst/>
          </a:prstGeom>
          <a:solidFill>
            <a:srgbClr val="FFF4EE"/>
          </a:solidFill>
        </p:spPr>
      </p:sp>
      <p:sp>
        <p:nvSpPr>
          <p:cNvPr id="41" name="Text 39"/>
          <p:cNvSpPr/>
          <p:nvPr/>
        </p:nvSpPr>
        <p:spPr>
          <a:xfrm>
            <a:off x="6263640" y="3886200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D6A0"/>
                </a:solidFill>
              </a:rPr>
              <a:t>人工审核要点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63640" y="4096512"/>
            <a:ext cx="256032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荣科商务+法务审核分成合规性；医院科室主任确认指标适配性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E3C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69494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全链路：新病种上线生命周期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5" name="Text 3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13步协同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182880" y="850392"/>
          <a:ext cx="8961120" cy="4224528"/>
        </p:xfrm>
        <a:graphic>
          <a:graphicData uri="http://schemas.openxmlformats.org/drawingml/2006/table">
            <a:tbl>
              <a:tblPr/>
              <a:tblGrid>
                <a:gridCol w="411480"/>
                <a:gridCol w="5806440"/>
                <a:gridCol w="1417320"/>
                <a:gridCol w="1325880"/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执行内容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执行者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类型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3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4762E"/>
                          </a:solidFill>
                        </a:rPr>
                        <a:t>01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运营提交新病种申请，触发全链路启动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4762E"/>
                          </a:solidFill>
                        </a:rPr>
                        <a:t>运营/产品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4762E"/>
                          </a:solidFill>
                        </a:rPr>
                        <a:t>人工必须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A3B1"/>
                          </a:solidFill>
                        </a:rPr>
                        <a:t>02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文献检索子Agent并行检索指南·共识·文献</a:t>
                      </a:r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（</a:t>
                      </a:r>
                      <a:r>
                        <a:rPr lang="zh-CN" altLang="en-US" sz="900" dirty="0">
                          <a:solidFill>
                            <a:srgbClr val="FF0000"/>
                          </a:solidFill>
                        </a:rPr>
                        <a:t>有专业提供医学文献检索的平台</a:t>
                      </a:r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）</a:t>
                      </a:r>
                      <a:endParaRPr lang="en-US" sz="9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A3B1"/>
                          </a:solidFill>
                        </a:rPr>
                        <a:t>AI自动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7490"/>
                          </a:solidFill>
                        </a:rPr>
                        <a:t>AI自动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A3B1"/>
                          </a:solidFill>
                        </a:rPr>
                        <a:t>03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各服务助理Agent基于证据库，并行设计本领域模块初稿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A3B1"/>
                          </a:solidFill>
                        </a:rPr>
                        <a:t>AI并行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7490"/>
                          </a:solidFill>
                        </a:rPr>
                        <a:t>AI自动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A3B1"/>
                          </a:solidFill>
                        </a:rPr>
                        <a:t>04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疾病规划Agent汇总，检测冲突，生成带引用标注的完整方案初稿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A3B1"/>
                          </a:solidFill>
                        </a:rPr>
                        <a:t>AI自动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7490"/>
                          </a:solidFill>
                        </a:rPr>
                        <a:t>AI自动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A3B1"/>
                          </a:solidFill>
                        </a:rPr>
                        <a:t>05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知识库体系为新病种建立专属知识分区，导入并结构化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A3B1"/>
                          </a:solidFill>
                        </a:rPr>
                        <a:t>AI自动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7490"/>
                          </a:solidFill>
                        </a:rPr>
                        <a:t>AI自动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A3B1"/>
                          </a:solidFill>
                        </a:rPr>
                        <a:t>06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方案推送医生审核界面，高亮证据冲突和低置信度项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A3B1"/>
                          </a:solidFill>
                        </a:rPr>
                        <a:t>系统推送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7490"/>
                          </a:solidFill>
                        </a:rPr>
                        <a:t>AI自动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4762E"/>
                          </a:solidFill>
                        </a:rPr>
                        <a:t>07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医生逐模块审核，裁定证据冲突，填写结构化意见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4762E"/>
                          </a:solidFill>
                        </a:rPr>
                        <a:t>医生必须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4762E"/>
                          </a:solidFill>
                        </a:rPr>
                        <a:t>人工必须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4762E"/>
                          </a:solidFill>
                        </a:rPr>
                        <a:t>08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AI修正，生成差异对比报告；医生确认（通常2-3轮）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4762E"/>
                          </a:solidFill>
                        </a:rPr>
                        <a:t>AI+医生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4762E"/>
                          </a:solidFill>
                        </a:rPr>
                        <a:t>人工必须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A3B1"/>
                          </a:solidFill>
                        </a:rPr>
                        <a:t>09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商业化Agent读取已确认Skill，生成服务包·团队·绩效方案初稿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A3B1"/>
                          </a:solidFill>
                        </a:rPr>
                        <a:t>AI自动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7490"/>
                          </a:solidFill>
                        </a:rPr>
                        <a:t>AI自动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4762E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运营/法务审核商业化方案，AI修正确认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4762E"/>
                          </a:solidFill>
                        </a:rPr>
                        <a:t>运营+法务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4762E"/>
                          </a:solidFill>
                        </a:rPr>
                        <a:t>人工必须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4762E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Disease Skill v1.0激活，服务包上线，团队就位，院方绩效启动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4762E"/>
                          </a:solidFill>
                        </a:rPr>
                        <a:t>运营确认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4762E"/>
                          </a:solidFill>
                        </a:rPr>
                        <a:t>人工必须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A3B1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前100患者数据积累后，运营分析Agent生成首次效果报告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A3B1"/>
                          </a:solidFill>
                        </a:rPr>
                        <a:t>AI自动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7490"/>
                          </a:solidFill>
                        </a:rPr>
                        <a:t>AI自动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4762E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3041"/>
                          </a:solidFill>
                        </a:rPr>
                        <a:t>月度优化循环正式启动，各层Agent持续迭代，Skill版本递增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4762E"/>
                          </a:solidFill>
                        </a:rPr>
                        <a:t>AI+人工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4762E"/>
                          </a:solidFill>
                        </a:rPr>
                        <a:t>人工必须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E3C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69494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Human-in-the-Loop  与记忆学习机制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5" name="Text 3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持续进化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2880" y="841248"/>
            <a:ext cx="8778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结构化记录是前提——自由文字无法被机器学习，只有结构化标注才能驱动Agent优化。这个习惯要从第一天就建立起来。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2880" y="1188720"/>
            <a:ext cx="4297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62E"/>
                </a:solidFill>
              </a:rPr>
              <a:t>结构化人工反馈（6维度）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517904"/>
            <a:ext cx="4434840" cy="484632"/>
          </a:xfrm>
          <a:prstGeom prst="rect">
            <a:avLst/>
          </a:prstGeom>
          <a:solidFill>
            <a:srgbClr val="FFF4EE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517904"/>
            <a:ext cx="164592" cy="484632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10" name="Text 8"/>
          <p:cNvSpPr/>
          <p:nvPr/>
        </p:nvSpPr>
        <p:spPr>
          <a:xfrm>
            <a:off x="384048" y="1563624"/>
            <a:ext cx="4160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3041"/>
                </a:solidFill>
              </a:rPr>
              <a:t>介入原因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1764792"/>
            <a:ext cx="4160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AI预警触发 / 患者主动求助 / 管理师主动发现 / 医生建议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2066544"/>
            <a:ext cx="4434840" cy="484632"/>
          </a:xfrm>
          <a:prstGeom prst="rect">
            <a:avLst/>
          </a:prstGeom>
          <a:solidFill>
            <a:srgbClr val="FFF4EE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066544"/>
            <a:ext cx="164592" cy="484632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14" name="Text 12"/>
          <p:cNvSpPr/>
          <p:nvPr/>
        </p:nvSpPr>
        <p:spPr>
          <a:xfrm>
            <a:off x="384048" y="2112264"/>
            <a:ext cx="4160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3041"/>
                </a:solidFill>
              </a:rPr>
              <a:t>AI判断准确性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313432"/>
            <a:ext cx="4160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准确 / 部分准确 / 错误（附错误类型选项）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" y="2615184"/>
            <a:ext cx="4434840" cy="484632"/>
          </a:xfrm>
          <a:prstGeom prst="rect">
            <a:avLst/>
          </a:prstGeom>
          <a:solidFill>
            <a:srgbClr val="FFF4EE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2615184"/>
            <a:ext cx="164592" cy="484632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18" name="Text 16"/>
          <p:cNvSpPr/>
          <p:nvPr/>
        </p:nvSpPr>
        <p:spPr>
          <a:xfrm>
            <a:off x="384048" y="2660904"/>
            <a:ext cx="4160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3041"/>
                </a:solidFill>
              </a:rPr>
              <a:t>干预动作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2862072"/>
            <a:ext cx="4160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电话沟通 / 消息跟进 / 调整方案 / 转介医生 / 营养师 / 心理支持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3163824"/>
            <a:ext cx="4434840" cy="484632"/>
          </a:xfrm>
          <a:prstGeom prst="rect">
            <a:avLst/>
          </a:prstGeom>
          <a:solidFill>
            <a:srgbClr val="FFF4EE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3163824"/>
            <a:ext cx="164592" cy="484632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22" name="Text 20"/>
          <p:cNvSpPr/>
          <p:nvPr/>
        </p:nvSpPr>
        <p:spPr>
          <a:xfrm>
            <a:off x="384048" y="3209544"/>
            <a:ext cx="4160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3041"/>
                </a:solidFill>
              </a:rPr>
              <a:t>干预效果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" y="3410712"/>
            <a:ext cx="4160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患者反应积极 / 中性 / 消极 / 无回应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2880" y="3712464"/>
            <a:ext cx="4434840" cy="484632"/>
          </a:xfrm>
          <a:prstGeom prst="rect">
            <a:avLst/>
          </a:prstGeom>
          <a:solidFill>
            <a:srgbClr val="FFF4EE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3712464"/>
            <a:ext cx="164592" cy="484632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26" name="Text 24"/>
          <p:cNvSpPr/>
          <p:nvPr/>
        </p:nvSpPr>
        <p:spPr>
          <a:xfrm>
            <a:off x="384048" y="3758184"/>
            <a:ext cx="4160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3041"/>
                </a:solidFill>
              </a:rPr>
              <a:t>7天后追踪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4048" y="3959352"/>
            <a:ext cx="4160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指标改善 / 无变化 / 恶化（系统自动提醒填写，最高质量学习信号）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4261104"/>
            <a:ext cx="4434840" cy="484632"/>
          </a:xfrm>
          <a:prstGeom prst="rect">
            <a:avLst/>
          </a:prstGeom>
          <a:solidFill>
            <a:srgbClr val="FFF4EE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4261104"/>
            <a:ext cx="164592" cy="484632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30" name="Text 28"/>
          <p:cNvSpPr/>
          <p:nvPr/>
        </p:nvSpPr>
        <p:spPr>
          <a:xfrm>
            <a:off x="384048" y="4306824"/>
            <a:ext cx="4160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3041"/>
                </a:solidFill>
              </a:rPr>
              <a:t>知识库标注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4048" y="4507992"/>
            <a:ext cx="4160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患者问题是否已在库中？答案是否准确？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00600" y="1188720"/>
            <a:ext cx="4160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490"/>
                </a:solidFill>
              </a:rPr>
              <a:t>月度优化循环（六步）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1517904"/>
            <a:ext cx="4160520" cy="48463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1517904"/>
            <a:ext cx="164592" cy="484632"/>
          </a:xfrm>
          <a:prstGeom prst="rect">
            <a:avLst/>
          </a:prstGeom>
          <a:solidFill>
            <a:srgbClr val="0FA3B1"/>
          </a:solidFill>
        </p:spPr>
      </p:sp>
      <p:sp>
        <p:nvSpPr>
          <p:cNvPr id="35" name="Text 33"/>
          <p:cNvSpPr/>
          <p:nvPr/>
        </p:nvSpPr>
        <p:spPr>
          <a:xfrm>
            <a:off x="5001768" y="1563624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01 数据汇总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01768" y="1773936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AI汇总上月所有干预记录：预警准确率·随访完成率·干预效果分布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321040" y="1609344"/>
            <a:ext cx="594360" cy="292608"/>
          </a:xfrm>
          <a:prstGeom prst="rect">
            <a:avLst/>
          </a:prstGeom>
          <a:solidFill>
            <a:srgbClr val="0FA3B1"/>
          </a:solidFill>
        </p:spPr>
      </p:sp>
      <p:sp>
        <p:nvSpPr>
          <p:cNvPr id="38" name="Text 36"/>
          <p:cNvSpPr/>
          <p:nvPr/>
        </p:nvSpPr>
        <p:spPr>
          <a:xfrm>
            <a:off x="8321040" y="1609344"/>
            <a:ext cx="594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2066544"/>
            <a:ext cx="4160520" cy="48463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2066544"/>
            <a:ext cx="164592" cy="484632"/>
          </a:xfrm>
          <a:prstGeom prst="rect">
            <a:avLst/>
          </a:prstGeom>
          <a:solidFill>
            <a:srgbClr val="0FA3B1"/>
          </a:solidFill>
        </p:spPr>
      </p:sp>
      <p:sp>
        <p:nvSpPr>
          <p:cNvPr id="41" name="Text 39"/>
          <p:cNvSpPr/>
          <p:nvPr/>
        </p:nvSpPr>
        <p:spPr>
          <a:xfrm>
            <a:off x="5001768" y="2112264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02 问题识别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01768" y="2322576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AI识别表现最差的策略模块（误触发率&gt;30%·响应率低于阈值）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321040" y="2157984"/>
            <a:ext cx="594360" cy="292608"/>
          </a:xfrm>
          <a:prstGeom prst="rect">
            <a:avLst/>
          </a:prstGeom>
          <a:solidFill>
            <a:srgbClr val="0FA3B1"/>
          </a:solidFill>
        </p:spPr>
      </p:sp>
      <p:sp>
        <p:nvSpPr>
          <p:cNvPr id="44" name="Text 42"/>
          <p:cNvSpPr/>
          <p:nvPr/>
        </p:nvSpPr>
        <p:spPr>
          <a:xfrm>
            <a:off x="8321040" y="2157984"/>
            <a:ext cx="594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00600" y="2615184"/>
            <a:ext cx="4160520" cy="48463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00600" y="2615184"/>
            <a:ext cx="164592" cy="484632"/>
          </a:xfrm>
          <a:prstGeom prst="rect">
            <a:avLst/>
          </a:prstGeom>
          <a:solidFill>
            <a:srgbClr val="0FA3B1"/>
          </a:solidFill>
        </p:spPr>
      </p:sp>
      <p:sp>
        <p:nvSpPr>
          <p:cNvPr id="47" name="Text 45"/>
          <p:cNvSpPr/>
          <p:nvPr/>
        </p:nvSpPr>
        <p:spPr>
          <a:xfrm>
            <a:off x="5001768" y="2660904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03 优化建议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01768" y="2871216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AI生成优化方案（调整阈值·更新话术·修改升级规则），附预期效果预测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321040" y="2706624"/>
            <a:ext cx="594360" cy="292608"/>
          </a:xfrm>
          <a:prstGeom prst="rect">
            <a:avLst/>
          </a:prstGeom>
          <a:solidFill>
            <a:srgbClr val="0FA3B1"/>
          </a:solidFill>
        </p:spPr>
      </p:sp>
      <p:sp>
        <p:nvSpPr>
          <p:cNvPr id="50" name="Text 48"/>
          <p:cNvSpPr/>
          <p:nvPr/>
        </p:nvSpPr>
        <p:spPr>
          <a:xfrm>
            <a:off x="8321040" y="2706624"/>
            <a:ext cx="594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00600" y="3163824"/>
            <a:ext cx="4160520" cy="48463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00600" y="3163824"/>
            <a:ext cx="164592" cy="484632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53" name="Text 51"/>
          <p:cNvSpPr/>
          <p:nvPr/>
        </p:nvSpPr>
        <p:spPr>
          <a:xfrm>
            <a:off x="5001768" y="3209544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04 人工审核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01768" y="3419856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产品负责人+医学顾问审核，决策：接受/修改/拒绝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321040" y="3255264"/>
            <a:ext cx="594360" cy="292608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56" name="Text 54"/>
          <p:cNvSpPr/>
          <p:nvPr/>
        </p:nvSpPr>
        <p:spPr>
          <a:xfrm>
            <a:off x="8321040" y="3255264"/>
            <a:ext cx="594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人工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00600" y="3712464"/>
            <a:ext cx="4160520" cy="48463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800600" y="3712464"/>
            <a:ext cx="164592" cy="484632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59" name="Text 57"/>
          <p:cNvSpPr/>
          <p:nvPr/>
        </p:nvSpPr>
        <p:spPr>
          <a:xfrm>
            <a:off x="5001768" y="3758184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05 灰度测试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001768" y="3968496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审核通过的策略先在5-10%患者中测试2周；效果未达标自动回滚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321040" y="3803904"/>
            <a:ext cx="594360" cy="292608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62" name="Text 60"/>
          <p:cNvSpPr/>
          <p:nvPr/>
        </p:nvSpPr>
        <p:spPr>
          <a:xfrm>
            <a:off x="8321040" y="3803904"/>
            <a:ext cx="594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人工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800600" y="4261104"/>
            <a:ext cx="4160520" cy="48463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800600" y="4261104"/>
            <a:ext cx="164592" cy="484632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65" name="Text 63"/>
          <p:cNvSpPr/>
          <p:nvPr/>
        </p:nvSpPr>
        <p:spPr>
          <a:xfrm>
            <a:off x="5001768" y="4306824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041"/>
                </a:solidFill>
              </a:rPr>
              <a:t>06 全量部署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001768" y="4517136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灰度效果达标后全量更新；不达标回滚并重新分析（双重确认机制）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8321040" y="4352544"/>
            <a:ext cx="594360" cy="292608"/>
          </a:xfrm>
          <a:prstGeom prst="rect">
            <a:avLst/>
          </a:prstGeom>
          <a:solidFill>
            <a:srgbClr val="F4762E"/>
          </a:solidFill>
        </p:spPr>
      </p:sp>
      <p:sp>
        <p:nvSpPr>
          <p:cNvPr id="68" name="Text 66"/>
          <p:cNvSpPr/>
          <p:nvPr/>
        </p:nvSpPr>
        <p:spPr>
          <a:xfrm>
            <a:off x="8321040" y="4352544"/>
            <a:ext cx="594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人工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82880" y="4864608"/>
            <a:ext cx="8778240" cy="237744"/>
          </a:xfrm>
          <a:prstGeom prst="rect">
            <a:avLst/>
          </a:prstGeom>
          <a:solidFill>
            <a:srgbClr val="0A2E3C"/>
          </a:solidFill>
        </p:spPr>
      </p:sp>
      <p:sp>
        <p:nvSpPr>
          <p:cNvPr id="70" name="Text 68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D6A0"/>
                </a:solidFill>
              </a:rPr>
              <a:t>底线原则：以下三类决策永远保留人工参与：① 首次患者分型确认  ② 治疗方案实质性调整  ③ 生命体征异常紧急处置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E3C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69494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多层评估标准体系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5" name="Text 3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分层定义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solidFill>
            <a:srgbClr val="FFF0EE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164592" cy="347472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8" name="Text 6"/>
          <p:cNvSpPr/>
          <p:nvPr/>
        </p:nvSpPr>
        <p:spPr>
          <a:xfrm>
            <a:off x="384048" y="841248"/>
            <a:ext cx="8549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警告：不能单独以"随访完成率"或"人工介入减少"作为目标——前者导致Agent只给容易响应的患者发消息，后者导致Agent回避应该升级的情况。</a:t>
            </a:r>
            <a:endParaRPr lang="en-US" sz="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182880" y="1261872"/>
          <a:ext cx="8778240" cy="3291840"/>
        </p:xfrm>
        <a:graphic>
          <a:graphicData uri="http://schemas.openxmlformats.org/drawingml/2006/table">
            <a:tbl>
              <a:tblPr/>
              <a:tblGrid>
                <a:gridCol w="1691640"/>
                <a:gridCol w="1371600"/>
                <a:gridCol w="1417320"/>
                <a:gridCol w="1280160"/>
                <a:gridCol w="1417320"/>
                <a:gridCol w="1417320"/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评估维度（权重）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服务助理Agent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疾病规划Agent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知识库体系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运营分析Agent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商业化Agent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核心指标（40%）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患者健康指标改善率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医生首稿接受率（减少审核轮次）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知识问答准确率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分析报告转化为实际优化比率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院方续约率/患者续费率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执行效率（25%）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随访完成率·依从率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初稿生成时间·引用准确性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检索响应速度·召回率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报告生成频率·及时性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服务包匹配度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质量指标（20%）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预警准确率（真阳性/误报/漏报）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模块间逻辑冲突检出率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知识覆盖率·缺口识别速度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分析结论与实际结果相关性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绩效指标与达成率相关性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人工负担（10%）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4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每百患者人工介入次数（趋势↓）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医生审核时长（趋势↓）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人工审核知识量（趋势↓）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管理层采纳建议率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商业方案人工修改幅度（趋势↓）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体验指标（5%）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患者满意度/投诉率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7B8A"/>
                          </a:solidFill>
                        </a:rPr>
                        <a:t>患者服务包价值感知评分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E3C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69494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运行一年后，荣科沉淀的是什么？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5" name="Text 3"/>
          <p:cNvSpPr/>
          <p:nvPr/>
        </p:nvSpPr>
        <p:spPr>
          <a:xfrm>
            <a:off x="7223760" y="0"/>
            <a:ext cx="17373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四类资产 + 飞轮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2880" y="841248"/>
            <a:ext cx="8778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不是一套软件，而是四类资产和一个持续加速的飞轮。竞争对手需要同时在数据·知识·AI能力·医生关系四个维度赶上，且无法绕过时间积累。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4251960" cy="199339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234440"/>
            <a:ext cx="4251960" cy="384048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9" name="Text 7"/>
          <p:cNvSpPr/>
          <p:nvPr/>
        </p:nvSpPr>
        <p:spPr>
          <a:xfrm>
            <a:off x="292608" y="1234440"/>
            <a:ext cx="2743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数据资产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298448"/>
            <a:ext cx="1097280" cy="256032"/>
          </a:xfrm>
          <a:prstGeom prst="rect">
            <a:avLst/>
          </a:prstGeom>
          <a:solidFill>
            <a:srgbClr val="FFFFFF">
              <a:alpha val="75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3246120" y="1298448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最难复制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673352"/>
            <a:ext cx="4059936" cy="694944"/>
          </a:xfrm>
          <a:prstGeom prst="rect">
            <a:avLst/>
          </a:prstGeom>
          <a:solidFill>
            <a:srgbClr val="F5F9FB"/>
          </a:solidFill>
        </p:spPr>
      </p:sp>
      <p:sp>
        <p:nvSpPr>
          <p:cNvPr id="13" name="Text 11"/>
          <p:cNvSpPr/>
          <p:nvPr/>
        </p:nvSpPr>
        <p:spPr>
          <a:xfrm>
            <a:off x="329184" y="1719072"/>
            <a:ext cx="3931920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患者纵向健康数据：体重曲线、症状变化、依从性记录、干预时间点和对应效果。不是问卷，是真实生活场景中持续采集的行为轨迹。时间越长越有价值，竞争对手无法购买复制。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404872"/>
            <a:ext cx="4059936" cy="749808"/>
          </a:xfrm>
          <a:prstGeom prst="rect">
            <a:avLst/>
          </a:prstGeom>
          <a:solidFill>
            <a:srgbClr val="EDF5F7"/>
          </a:solidFill>
        </p:spPr>
      </p:sp>
      <p:sp>
        <p:nvSpPr>
          <p:cNvPr id="15" name="Text 13"/>
          <p:cNvSpPr/>
          <p:nvPr/>
        </p:nvSpPr>
        <p:spPr>
          <a:xfrm>
            <a:off x="329184" y="2450592"/>
            <a:ext cx="3931920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人工干预标注数据：每次医生修改方案、预警误触发的纠正——经医学专业人员验证的"正确答案"，是其他任何平台都没有的训练信号。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251960" cy="199339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234440"/>
            <a:ext cx="4251960" cy="384048"/>
          </a:xfrm>
          <a:prstGeom prst="rect">
            <a:avLst/>
          </a:prstGeom>
          <a:solidFill>
            <a:srgbClr val="0FA3B1"/>
          </a:solidFill>
        </p:spPr>
      </p:sp>
      <p:sp>
        <p:nvSpPr>
          <p:cNvPr id="18" name="Text 16"/>
          <p:cNvSpPr/>
          <p:nvPr/>
        </p:nvSpPr>
        <p:spPr>
          <a:xfrm>
            <a:off x="4773168" y="1234440"/>
            <a:ext cx="2743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知识资产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26680" y="1298448"/>
            <a:ext cx="1097280" cy="256032"/>
          </a:xfrm>
          <a:prstGeom prst="rect">
            <a:avLst/>
          </a:prstGeom>
          <a:solidFill>
            <a:srgbClr val="FFFFFF">
              <a:alpha val="75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7726680" y="1298448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形成壁垒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1673352"/>
            <a:ext cx="4059936" cy="694944"/>
          </a:xfrm>
          <a:prstGeom prst="rect">
            <a:avLst/>
          </a:prstGeom>
          <a:solidFill>
            <a:srgbClr val="F5F9FB"/>
          </a:solidFill>
        </p:spPr>
      </p:sp>
      <p:sp>
        <p:nvSpPr>
          <p:cNvPr id="22" name="Text 20"/>
          <p:cNvSpPr/>
          <p:nvPr/>
        </p:nvSpPr>
        <p:spPr>
          <a:xfrm>
            <a:off x="4809744" y="1719072"/>
            <a:ext cx="3931920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病种临床路径IP：指南经医生修订+数据验证后形成的荣科版管理协议。第1个病种3-6个月，第10个可能2-3周——每个病种都让下一个上线更快，复利积累。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2404872"/>
            <a:ext cx="4059936" cy="749808"/>
          </a:xfrm>
          <a:prstGeom prst="rect">
            <a:avLst/>
          </a:prstGeom>
          <a:solidFill>
            <a:srgbClr val="EDF5F7"/>
          </a:solidFill>
        </p:spPr>
      </p:sp>
      <p:sp>
        <p:nvSpPr>
          <p:cNvPr id="24" name="Text 22"/>
          <p:cNvSpPr/>
          <p:nvPr/>
        </p:nvSpPr>
        <p:spPr>
          <a:xfrm>
            <a:off x="4809744" y="2450592"/>
            <a:ext cx="3931920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经过验证的问答知识库：患者真实提问+医生审核标准答案，针对真实康复困惑，回答实用性远高于通用医学知识库。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2880" y="3310128"/>
            <a:ext cx="4251960" cy="199339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3310128"/>
            <a:ext cx="4251960" cy="384048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27" name="Text 25"/>
          <p:cNvSpPr/>
          <p:nvPr/>
        </p:nvSpPr>
        <p:spPr>
          <a:xfrm>
            <a:off x="292608" y="3310128"/>
            <a:ext cx="2743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AI能力资产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46120" y="3374136"/>
            <a:ext cx="1097280" cy="256032"/>
          </a:xfrm>
          <a:prstGeom prst="rect">
            <a:avLst/>
          </a:prstGeom>
          <a:solidFill>
            <a:srgbClr val="FFFFFF">
              <a:alpha val="75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3246120" y="3374136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越用越强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749040"/>
            <a:ext cx="4059936" cy="694944"/>
          </a:xfrm>
          <a:prstGeom prst="rect">
            <a:avLst/>
          </a:prstGeom>
          <a:solidFill>
            <a:srgbClr val="F5F9FB"/>
          </a:solidFill>
        </p:spPr>
      </p:sp>
      <p:sp>
        <p:nvSpPr>
          <p:cNvPr id="31" name="Text 29"/>
          <p:cNvSpPr/>
          <p:nvPr/>
        </p:nvSpPr>
        <p:spPr>
          <a:xfrm>
            <a:off x="329184" y="3794760"/>
            <a:ext cx="3931920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各Agent策略模型：随访话术哪种效果好、什么情绪信号要升级、哪类患者依从性差——这些判断力沉淀在Agent策略层里，是荣科专属场景持续训练的成果。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4480560"/>
            <a:ext cx="4059936" cy="749808"/>
          </a:xfrm>
          <a:prstGeom prst="rect">
            <a:avLst/>
          </a:prstGeom>
          <a:solidFill>
            <a:srgbClr val="EDF5F7"/>
          </a:solidFill>
        </p:spPr>
      </p:sp>
      <p:sp>
        <p:nvSpPr>
          <p:cNvPr id="33" name="Text 31"/>
          <p:cNvSpPr/>
          <p:nvPr/>
        </p:nvSpPr>
        <p:spPr>
          <a:xfrm>
            <a:off x="329184" y="4526280"/>
            <a:ext cx="3931920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病种扩展方法论：每成功上线一个病种，就形成可复用范式。这套方法论显性化后，新团队上手速度大幅提升，新病种上线风险大幅降低。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3310128"/>
            <a:ext cx="4251960" cy="199339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310128"/>
            <a:ext cx="4251960" cy="384048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36" name="Text 34"/>
          <p:cNvSpPr/>
          <p:nvPr/>
        </p:nvSpPr>
        <p:spPr>
          <a:xfrm>
            <a:off x="4773168" y="3310128"/>
            <a:ext cx="2743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关系与信任资产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726680" y="3374136"/>
            <a:ext cx="1097280" cy="256032"/>
          </a:xfrm>
          <a:prstGeom prst="rect">
            <a:avLst/>
          </a:prstGeom>
          <a:solidFill>
            <a:srgbClr val="FFFFFF">
              <a:alpha val="75000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7726680" y="3374136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最软也最硬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3749040"/>
            <a:ext cx="4059936" cy="694944"/>
          </a:xfrm>
          <a:prstGeom prst="rect">
            <a:avLst/>
          </a:prstGeom>
          <a:solidFill>
            <a:srgbClr val="F5F9FB"/>
          </a:solidFill>
        </p:spPr>
      </p:sp>
      <p:sp>
        <p:nvSpPr>
          <p:cNvPr id="40" name="Text 38"/>
          <p:cNvSpPr/>
          <p:nvPr/>
        </p:nvSpPr>
        <p:spPr>
          <a:xfrm>
            <a:off x="4809744" y="3794760"/>
            <a:ext cx="3931920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医生共建关系：参与设计过临床路径的医生对这套系统有主人翁感，会主动维护和推荐——这种关系不是合同能替代的，竞争对手花钱也难快速建立。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4880" y="4480560"/>
            <a:ext cx="4059936" cy="749808"/>
          </a:xfrm>
          <a:prstGeom prst="rect">
            <a:avLst/>
          </a:prstGeom>
          <a:solidFill>
            <a:srgbClr val="EDF5F7"/>
          </a:solidFill>
        </p:spPr>
      </p:sp>
      <p:sp>
        <p:nvSpPr>
          <p:cNvPr id="42" name="Text 40"/>
          <p:cNvSpPr/>
          <p:nvPr/>
        </p:nvSpPr>
        <p:spPr>
          <a:xfrm>
            <a:off x="4809744" y="4526280"/>
            <a:ext cx="3931920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患者品牌信任：在某疾病领域形成口碑后，新患者获取成本大幅下降，院方主动推荐意愿更强，患者续费率更高。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82880" y="5321808"/>
            <a:ext cx="8778240" cy="0"/>
          </a:xfrm>
          <a:prstGeom prst="rect">
            <a:avLst/>
          </a:prstGeom>
          <a:noFill/>
        </p:spPr>
      </p:sp>
      <p:sp>
        <p:nvSpPr>
          <p:cNvPr id="44" name="Shape 42"/>
          <p:cNvSpPr/>
          <p:nvPr/>
        </p:nvSpPr>
        <p:spPr>
          <a:xfrm>
            <a:off x="182880" y="5340096"/>
            <a:ext cx="8778240" cy="0"/>
          </a:xfrm>
          <a:prstGeom prst="rect">
            <a:avLst/>
          </a:prstGeom>
          <a:noFill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4" name="Shape 2"/>
          <p:cNvSpPr/>
          <p:nvPr/>
        </p:nvSpPr>
        <p:spPr>
          <a:xfrm>
            <a:off x="457200" y="2240280"/>
            <a:ext cx="8229600" cy="45720"/>
          </a:xfrm>
          <a:prstGeom prst="rect">
            <a:avLst/>
          </a:prstGeom>
          <a:solidFill>
            <a:srgbClr val="0D7490">
              <a:alpha val="55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640080" y="777240"/>
            <a:ext cx="78638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荣科健康管理平台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从"服务执行者"到"平台级AI能力拥有者"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7863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8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外部供应商提供执行工具  ·  荣科自己沉淀核心竞争力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7863840" cy="502920"/>
          </a:xfrm>
          <a:prstGeom prst="rect">
            <a:avLst/>
          </a:prstGeom>
          <a:solidFill>
            <a:srgbClr val="0B4F6C"/>
          </a:solidFill>
        </p:spPr>
      </p:sp>
      <p:sp>
        <p:nvSpPr>
          <p:cNvPr id="9" name="Text 7"/>
          <p:cNvSpPr/>
          <p:nvPr/>
        </p:nvSpPr>
        <p:spPr>
          <a:xfrm>
            <a:off x="640080" y="2834640"/>
            <a:ext cx="7863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飞轮效应：</a:t>
            </a:r>
            <a:r>
              <a:rPr lang="en-US" sz="1100" dirty="0">
                <a:solidFill>
                  <a:srgbClr val="A8C5CF"/>
                </a:solidFill>
              </a:rPr>
              <a:t>患者越多 → 数据越好 → AI越准 → 服务质量越高 → 口碑越好 → </a:t>
            </a:r>
            <a:r>
              <a:rPr lang="en-US" sz="1100" b="1" dirty="0">
                <a:solidFill>
                  <a:srgbClr val="06D6A0"/>
                </a:solidFill>
              </a:rPr>
              <a:t>患者越多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1691640" cy="420624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11" name="Text 9"/>
          <p:cNvSpPr/>
          <p:nvPr/>
        </p:nvSpPr>
        <p:spPr>
          <a:xfrm>
            <a:off x="822960" y="3520440"/>
            <a:ext cx="16916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数据资产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3520440"/>
            <a:ext cx="1691640" cy="420624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13" name="Text 11"/>
          <p:cNvSpPr/>
          <p:nvPr/>
        </p:nvSpPr>
        <p:spPr>
          <a:xfrm>
            <a:off x="2743200" y="3520440"/>
            <a:ext cx="16916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知识资产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520440"/>
            <a:ext cx="1691640" cy="420624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15" name="Text 13"/>
          <p:cNvSpPr/>
          <p:nvPr/>
        </p:nvSpPr>
        <p:spPr>
          <a:xfrm>
            <a:off x="4663440" y="3520440"/>
            <a:ext cx="16916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AI能力资产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3520440"/>
            <a:ext cx="1691640" cy="420624"/>
          </a:xfrm>
          <a:prstGeom prst="rect">
            <a:avLst/>
          </a:prstGeom>
          <a:solidFill>
            <a:srgbClr val="0D7490"/>
          </a:solidFill>
        </p:spPr>
      </p:sp>
      <p:sp>
        <p:nvSpPr>
          <p:cNvPr id="17" name="Text 15"/>
          <p:cNvSpPr/>
          <p:nvPr/>
        </p:nvSpPr>
        <p:spPr>
          <a:xfrm>
            <a:off x="6583680" y="3520440"/>
            <a:ext cx="16916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关系信任资产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663440"/>
            <a:ext cx="7863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B75"/>
                </a:solidFill>
              </a:rPr>
              <a:t>2026年4月  |  荣科健康管理  ·  内部战略文件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6670</Words>
  <Application>WPS 演示</Application>
  <PresentationFormat>On-screen Show (16:9)</PresentationFormat>
  <Paragraphs>877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6" baseType="lpstr">
      <vt:lpstr>Arial</vt:lpstr>
      <vt:lpstr>宋体</vt:lpstr>
      <vt:lpstr>Wingdings</vt:lpstr>
      <vt:lpstr>Arial Black</vt:lpstr>
      <vt:lpstr>Arial Black</vt:lpstr>
      <vt:lpstr>Arial Black</vt:lpstr>
      <vt:lpstr>Calibri</vt:lpstr>
      <vt:lpstr>Helvetica Neue</vt:lpstr>
      <vt:lpstr>Calibri</vt:lpstr>
      <vt:lpstr>Calibri</vt:lpstr>
      <vt:lpstr>Arial</vt:lpstr>
      <vt:lpstr>Arial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荣科健康管理AI Agent协同体系</dc:title>
  <dc:creator>PptxGenJS</dc:creator>
  <dc:subject>PptxGenJS Presentation</dc:subject>
  <cp:lastModifiedBy>什什</cp:lastModifiedBy>
  <cp:revision>12</cp:revision>
  <dcterms:created xsi:type="dcterms:W3CDTF">2026-04-19T17:59:40Z</dcterms:created>
  <dcterms:modified xsi:type="dcterms:W3CDTF">2026-04-19T17:59:40Z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7552E52B4275595B920BE569514A6836_42</vt:lpwstr>
  </property>
  <property fmtid="{D5CDD505-2E9C-101B-9397-08002B2CF9AE}" pid="3" name="KSOProductBuildVer">
    <vt:lpwstr>2052-6.14.0.8924</vt:lpwstr>
  </property>
</Properties>
</file>