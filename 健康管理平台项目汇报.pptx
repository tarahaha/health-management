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84" r:id="rId7"/>
    <p:sldId id="285" r:id="rId8"/>
    <p:sldId id="260" r:id="rId9"/>
    <p:sldId id="286" r:id="rId10"/>
    <p:sldId id="287" r:id="rId11"/>
    <p:sldId id="288" r:id="rId12"/>
    <p:sldId id="261" r:id="rId13"/>
    <p:sldId id="262" r:id="rId14"/>
    <p:sldId id="263" r:id="rId15"/>
    <p:sldId id="264" r:id="rId16"/>
    <p:sldId id="266" r:id="rId17"/>
    <p:sldId id="267" r:id="rId18"/>
    <p:sldId id="268" r:id="rId19"/>
    <p:sldId id="269" r:id="rId20"/>
    <p:sldId id="270" r:id="rId21"/>
    <p:sldId id="271" r:id="rId22"/>
    <p:sldId id="273" r:id="rId23"/>
    <p:sldId id="274" r:id="rId24"/>
    <p:sldId id="275" r:id="rId25"/>
    <p:sldId id="276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E0">
              <a:alpha val="8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6400800" cy="6400800"/>
          </a:xfrm>
          <a:prstGeom prst="ellipse">
            <a:avLst/>
          </a:prstGeom>
          <a:solidFill>
            <a:srgbClr val="00C8E0">
              <a:alpha val="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096A8">
              <a:alpha val="12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6" name="Shape 4"/>
          <p:cNvSpPr/>
          <p:nvPr/>
        </p:nvSpPr>
        <p:spPr>
          <a:xfrm>
            <a:off x="457200" y="502920"/>
            <a:ext cx="54864" cy="36576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685800" y="640080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300" dirty="0">
                <a:solidFill>
                  <a:srgbClr val="FFFFFF"/>
                </a:solidFill>
              </a:rPr>
              <a:t>荣科健康管理平台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200" dirty="0">
                <a:solidFill>
                  <a:srgbClr val="5ADEEE"/>
                </a:solidFill>
              </a:rPr>
              <a:t>从 0 到 1 的产品规划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4114800" cy="36576"/>
          </a:xfrm>
          <a:prstGeom prst="rect">
            <a:avLst/>
          </a:prstGeom>
          <a:solidFill>
            <a:srgbClr val="00C8E0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85800" y="2852928"/>
            <a:ext cx="1737360" cy="27432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1" name="Text 9"/>
          <p:cNvSpPr/>
          <p:nvPr/>
        </p:nvSpPr>
        <p:spPr>
          <a:xfrm>
            <a:off x="685800" y="28529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DEEE"/>
                </a:solidFill>
              </a:rPr>
              <a:t>以食道癌为切入点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852928"/>
            <a:ext cx="1737360" cy="27432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3" name="Text 11"/>
          <p:cNvSpPr/>
          <p:nvPr/>
        </p:nvSpPr>
        <p:spPr>
          <a:xfrm>
            <a:off x="2560320" y="28529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DEEE"/>
                </a:solidFill>
              </a:rPr>
              <a:t>AI赋能全流程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852928"/>
            <a:ext cx="1737360" cy="27432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5" name="Text 13"/>
          <p:cNvSpPr/>
          <p:nvPr/>
        </p:nvSpPr>
        <p:spPr>
          <a:xfrm>
            <a:off x="4434840" y="28529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DEEE"/>
                </a:solidFill>
              </a:rPr>
              <a:t>千人千面管理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99B5"/>
                </a:solidFill>
              </a:rPr>
              <a:t>荣科科技股份有限公司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9B5"/>
                </a:solidFill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汇报目录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114300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8" name="Shape 6"/>
          <p:cNvSpPr/>
          <p:nvPr/>
        </p:nvSpPr>
        <p:spPr>
          <a:xfrm>
            <a:off x="347472" y="1417320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17320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0" name="Shape 8"/>
          <p:cNvSpPr/>
          <p:nvPr/>
        </p:nvSpPr>
        <p:spPr>
          <a:xfrm>
            <a:off x="457200" y="1527048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45720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149047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背景与机会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1801368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市场规模·政策窗口·现存痛点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258568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258568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6" name="Shape 14"/>
          <p:cNvSpPr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233172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产品定位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2642616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从服务包到数字健康伙伴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99816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99816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22" name="Shape 20"/>
          <p:cNvSpPr/>
          <p:nvPr/>
        </p:nvSpPr>
        <p:spPr>
          <a:xfrm>
            <a:off x="457200" y="3209544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57200" y="3209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17296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C端产品设计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" y="3483864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入组·康复团队·聊天助手·分身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941064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941064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28" name="Shape 26"/>
          <p:cNvSpPr/>
          <p:nvPr/>
        </p:nvSpPr>
        <p:spPr>
          <a:xfrm>
            <a:off x="457200" y="4050792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57200" y="4050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" y="4014216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通用多病种架构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" y="4325112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三层模型·疾病协议·分层引擎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1417320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1417320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4" name="Shape 32"/>
          <p:cNvSpPr/>
          <p:nvPr/>
        </p:nvSpPr>
        <p:spPr>
          <a:xfrm>
            <a:off x="4937760" y="1527048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493776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22392" y="149047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Agent方案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22392" y="1801368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5大Agent产品设计与技术实现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2258568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2258568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40" name="Shape 38"/>
          <p:cNvSpPr/>
          <p:nvPr/>
        </p:nvSpPr>
        <p:spPr>
          <a:xfrm>
            <a:off x="4937760" y="2368296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4937760" y="23682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22392" y="233172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商业价值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22392" y="2642616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ROI测算·效率提升·规模化路径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3099816"/>
            <a:ext cx="4206240" cy="6858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28032" y="3099816"/>
            <a:ext cx="54864" cy="6858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46" name="Shape 44"/>
          <p:cNvSpPr/>
          <p:nvPr/>
        </p:nvSpPr>
        <p:spPr>
          <a:xfrm>
            <a:off x="4937760" y="3209544"/>
            <a:ext cx="384048" cy="384048"/>
          </a:xfrm>
          <a:prstGeom prst="rect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4937760" y="3209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E0"/>
                </a:solidFill>
              </a:rPr>
              <a:t>07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22392" y="317296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实施路线图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22392" y="3483864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5"/>
                </a:solidFill>
              </a:rPr>
              <a:t>四阶段计划·试点科室·行动项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背景与机会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院后健康管理：一个被忽视的万亿赛道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政策引导 + 患者需求 + 技术成熟，三箭齐发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600200"/>
            <a:ext cx="2560320" cy="14630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00200"/>
            <a:ext cx="256032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Text 12"/>
          <p:cNvSpPr/>
          <p:nvPr/>
        </p:nvSpPr>
        <p:spPr>
          <a:xfrm>
            <a:off x="484632" y="176479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E0"/>
                </a:solidFill>
              </a:rPr>
              <a:t>2000亿+</a:t>
            </a:r>
            <a:endParaRPr lang="en-US" sz="4000" b="1" dirty="0">
              <a:solidFill>
                <a:srgbClr val="00C8E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DE0"/>
                </a:solidFill>
              </a:rPr>
              <a:t>院后健康管理市场规模（2025年）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600200"/>
            <a:ext cx="2560320" cy="14630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600200"/>
            <a:ext cx="2560320" cy="50292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18" name="Text 16"/>
          <p:cNvSpPr/>
          <p:nvPr/>
        </p:nvSpPr>
        <p:spPr>
          <a:xfrm>
            <a:off x="3410712" y="176479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9A"/>
                </a:solidFill>
              </a:rPr>
              <a:t>4.2亿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10712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DE0"/>
                </a:solidFill>
              </a:rPr>
              <a:t>中国慢性病患者总数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1600200"/>
            <a:ext cx="2560320" cy="14630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600200"/>
            <a:ext cx="2560320" cy="50292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2" name="Text 20"/>
          <p:cNvSpPr/>
          <p:nvPr/>
        </p:nvSpPr>
        <p:spPr>
          <a:xfrm>
            <a:off x="6336792" y="176479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166"/>
                </a:solidFill>
              </a:rPr>
              <a:t>&lt;30%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336792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DE0"/>
                </a:solidFill>
              </a:rPr>
              <a:t>癌症患者出院后随访依从率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337560"/>
            <a:ext cx="8430768" cy="13716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337560"/>
            <a:ext cx="8430768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26" name="Text 24"/>
          <p:cNvSpPr/>
          <p:nvPr/>
        </p:nvSpPr>
        <p:spPr>
          <a:xfrm>
            <a:off x="502920" y="3429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</a:rPr>
              <a:t>政策背景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80924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《"健康中国2030"规划纲要》明确推进"互联网+医疗健康"，国家卫健委发布《食管癌全程管理专家共识（2025版）》，院后管理纳入医疗质量考核体系，医院有强烈动力搭建诊后管理闭环。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50292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D3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用户端三大核心问题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当前产品逻辑的根本性缺陷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71677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78992"/>
            <a:ext cx="2651760" cy="64008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9" name="Shape 7"/>
          <p:cNvSpPr/>
          <p:nvPr/>
        </p:nvSpPr>
        <p:spPr>
          <a:xfrm>
            <a:off x="576072" y="1243584"/>
            <a:ext cx="868680" cy="237744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10" name="Text 8"/>
          <p:cNvSpPr/>
          <p:nvPr/>
        </p:nvSpPr>
        <p:spPr>
          <a:xfrm>
            <a:off x="576072" y="124358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体验断裂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402336" cy="402336"/>
          </a:xfrm>
          <a:prstGeom prst="ellipse">
            <a:avLst/>
          </a:prstGeom>
          <a:solidFill>
            <a:srgbClr val="E05C3A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126" y="1279246"/>
            <a:ext cx="221285" cy="22128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" y="1572768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用户</a:t>
            </a: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操作负担重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75945" y="2157730"/>
            <a:ext cx="2377440" cy="2156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量表填写平均耗时15分钟，40岁以上用户完成率不足30%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推送机制感知为「催促」而非「关怀」，7日留存率低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数据需手动输入，老年群体上报率不足50%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1078992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078992"/>
            <a:ext cx="265176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Shape 14"/>
          <p:cNvSpPr/>
          <p:nvPr/>
        </p:nvSpPr>
        <p:spPr>
          <a:xfrm>
            <a:off x="3410712" y="1243584"/>
            <a:ext cx="868680" cy="23774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5"/>
          <p:cNvSpPr/>
          <p:nvPr/>
        </p:nvSpPr>
        <p:spPr>
          <a:xfrm>
            <a:off x="3410712" y="124358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AI缺失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49240" y="1188720"/>
            <a:ext cx="402336" cy="402336"/>
          </a:xfrm>
          <a:prstGeom prst="ellipse">
            <a:avLst/>
          </a:prstGeom>
          <a:solidFill>
            <a:srgbClr val="7C3AED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66" y="1279246"/>
            <a:ext cx="221285" cy="2212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0712" y="1572768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规则引擎  非真正个性化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410712" y="2029968"/>
            <a:ext cx="237744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管理路径依赖固定规则树，无法感知患者当下真实状态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患者问题需等待疾管师上班回复，平均响应</a:t>
            </a:r>
            <a:r>
              <a:rPr lang="zh-CN" alt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长</a:t>
            </a:r>
            <a:endParaRPr lang="zh-CN" altLang="en-US" sz="1050" dirty="0">
              <a:solidFill>
                <a:srgbClr val="1A2E2B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数据采集完备但未反哺患者理解自身健康的能力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无情绪感知，患者焦虑期依从性骤降无法被识别干预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080760" y="1078992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80760" y="1078992"/>
            <a:ext cx="2651760" cy="64008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25" name="Shape 21"/>
          <p:cNvSpPr/>
          <p:nvPr/>
        </p:nvSpPr>
        <p:spPr>
          <a:xfrm>
            <a:off x="6245352" y="1243584"/>
            <a:ext cx="868680" cy="237744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26" name="Text 22"/>
          <p:cNvSpPr/>
          <p:nvPr/>
        </p:nvSpPr>
        <p:spPr>
          <a:xfrm>
            <a:off x="6245352" y="124358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逻辑错位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183880" y="1188720"/>
            <a:ext cx="402336" cy="402336"/>
          </a:xfrm>
          <a:prstGeom prst="ellipse">
            <a:avLst/>
          </a:prstGeom>
          <a:solidFill>
            <a:srgbClr val="0D7377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06" y="1279246"/>
            <a:ext cx="221285" cy="22128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45352" y="1572768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被管理产品  非陪伴产品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245352" y="2029968"/>
            <a:ext cx="237744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以任务完成率为KPI，患者体感是「被监控」而非「被帮助」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慢病焦虑是最大依从障碍，但产品完全没有情绪管理模块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健管师</a:t>
            </a:r>
            <a:r>
              <a:rPr lang="en-US" altLang="zh-CN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CN" alt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医护</a:t>
            </a: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单人管理上限约50人，规模扩张直接推高人力成本</a:t>
            </a:r>
            <a:endParaRPr lang="en-US" sz="1050" dirty="0">
              <a:solidFill>
                <a:srgbClr val="1A2E2B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传统服务包缺乏个性化，千人一面的内容用户感受不到价值，付费意愿低</a:t>
            </a:r>
            <a:endParaRPr lang="en-US" sz="1050" dirty="0">
              <a:solidFill>
                <a:srgbClr val="1A2E2B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>
              <a:solidFill>
                <a:srgbClr val="1A2E2B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solidFill>
            <a:srgbClr val="0D3D38"/>
          </a:solidFill>
        </p:spPr>
      </p:sp>
      <p:sp>
        <p:nvSpPr>
          <p:cNvPr id="32" name="Text 27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DA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核心结论：产品逻辑必须从「让患者配合医院流程」升级为「以患者获益为中心的智能陪伴体」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50292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D3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战略升级：两种产品逻辑的本质差异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8138160" cy="22860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840480" cy="3794760"/>
          </a:xfrm>
          <a:prstGeom prst="rect">
            <a:avLst/>
          </a:prstGeom>
          <a:solidFill>
            <a:srgbClr val="FFF4F1"/>
          </a:solidFill>
          <a:ln w="12700">
            <a:solidFill>
              <a:srgbClr val="E05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8" name="Text 6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现有逻辑  ·  患者管理工具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10" name="Text 8"/>
          <p:cNvSpPr/>
          <p:nvPr/>
        </p:nvSpPr>
        <p:spPr>
          <a:xfrm>
            <a:off x="804672" y="1536192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医院管理流程数字化延伸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1956816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12" name="Text 10"/>
          <p:cNvSpPr/>
          <p:nvPr/>
        </p:nvSpPr>
        <p:spPr>
          <a:xfrm>
            <a:off x="804672" y="192024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患者被动接受任务推送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340864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14" name="Text 12"/>
          <p:cNvSpPr/>
          <p:nvPr/>
        </p:nvSpPr>
        <p:spPr>
          <a:xfrm>
            <a:off x="804672" y="230428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固定规则路径，缺乏个性化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724912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16" name="Text 14"/>
          <p:cNvSpPr/>
          <p:nvPr/>
        </p:nvSpPr>
        <p:spPr>
          <a:xfrm>
            <a:off x="804672" y="268833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情绪维度完全缺失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108960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18" name="Text 16"/>
          <p:cNvSpPr/>
          <p:nvPr/>
        </p:nvSpPr>
        <p:spPr>
          <a:xfrm>
            <a:off x="804672" y="30723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知识库推送，患者被动接收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493008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20" name="Text 18"/>
          <p:cNvSpPr/>
          <p:nvPr/>
        </p:nvSpPr>
        <p:spPr>
          <a:xfrm>
            <a:off x="804672" y="3456432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核心指标：任务完成率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3877056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22" name="Text 20"/>
          <p:cNvSpPr/>
          <p:nvPr/>
        </p:nvSpPr>
        <p:spPr>
          <a:xfrm>
            <a:off x="804672" y="384048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人力密集，难规模化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261104"/>
            <a:ext cx="146304" cy="146304"/>
          </a:xfrm>
          <a:prstGeom prst="ellipse">
            <a:avLst/>
          </a:prstGeom>
          <a:solidFill>
            <a:srgbClr val="E05C3A"/>
          </a:solidFill>
        </p:spPr>
      </p:sp>
      <p:sp>
        <p:nvSpPr>
          <p:cNvPr id="24" name="Text 22"/>
          <p:cNvSpPr/>
          <p:nvPr/>
        </p:nvSpPr>
        <p:spPr>
          <a:xfrm>
            <a:off x="804672" y="422452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自媒体=空白，新用户靠医院导流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15968" y="2743200"/>
            <a:ext cx="548640" cy="73152"/>
          </a:xfrm>
          <a:prstGeom prst="rect">
            <a:avLst/>
          </a:prstGeom>
          <a:solidFill>
            <a:srgbClr val="14BDAC"/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6864" y="2633472"/>
            <a:ext cx="292608" cy="29260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892040" y="1005840"/>
            <a:ext cx="3840480" cy="3794760"/>
          </a:xfrm>
          <a:prstGeom prst="rect">
            <a:avLst/>
          </a:prstGeom>
          <a:solidFill>
            <a:srgbClr val="F0FAF8"/>
          </a:solidFill>
          <a:ln w="12700">
            <a:solidFill>
              <a:srgbClr val="14BD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92040" y="1005840"/>
            <a:ext cx="3840480" cy="411480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29" name="Text 26"/>
          <p:cNvSpPr/>
          <p:nvPr/>
        </p:nvSpPr>
        <p:spPr>
          <a:xfrm>
            <a:off x="489204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目标逻辑  ·  智能健康陪伴</a:t>
            </a:r>
            <a:endParaRPr lang="en-US" sz="13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45336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85232" y="152704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以患者获益为中心，主动陪伴</a:t>
            </a:r>
            <a:endParaRPr lang="en-US" sz="11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29384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85232" y="191109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AI主动感知，动态响应患者变化</a:t>
            </a:r>
            <a:endParaRPr lang="en-US" sz="11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83790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85232" y="2365502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情绪感知+心理支持内置核心流程</a:t>
            </a:r>
            <a:endParaRPr lang="en-US" sz="11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67838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285232" y="274955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对话式交互，培养患者自我管理力</a:t>
            </a:r>
            <a:endParaRPr lang="en-US" sz="115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1886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85232" y="313359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核心指标：健康指标改善+依从率</a:t>
            </a:r>
            <a:endParaRPr lang="en-US" sz="115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35934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85232" y="351764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AI替代低价值沟通，单师上限3-5倍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0C8E0">
              <a:alpha val="7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96A8">
              <a:alpha val="1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00C8E0"/>
                </a:solidFill>
              </a:rPr>
              <a:t>02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产品定位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340156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99B5"/>
                </a:solidFill>
              </a:rPr>
              <a:t>从"服务包销售"到"数字化健康伙伴"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50292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D3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慢病管理失败的根本原因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不是患者不知道该做什么，而是行为改变极难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832104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51560"/>
            <a:ext cx="54864" cy="804672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9" name="Text 7"/>
          <p:cNvSpPr/>
          <p:nvPr/>
        </p:nvSpPr>
        <p:spPr>
          <a:xfrm>
            <a:off x="566928" y="10789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现有产品的隐含假设（错误的）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「只要给患者正确的信息和提醒，他们就会做出正确的行为」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93392"/>
            <a:ext cx="2651760" cy="54864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13" name="Shape 11"/>
          <p:cNvSpPr/>
          <p:nvPr/>
        </p:nvSpPr>
        <p:spPr>
          <a:xfrm>
            <a:off x="576072" y="2121408"/>
            <a:ext cx="329184" cy="329184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14" name="Text 12"/>
          <p:cNvSpPr/>
          <p:nvPr/>
        </p:nvSpPr>
        <p:spPr>
          <a:xfrm>
            <a:off x="576072" y="21214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2084832"/>
            <a:ext cx="402336" cy="402336"/>
          </a:xfrm>
          <a:prstGeom prst="ellipse">
            <a:avLst/>
          </a:prstGeom>
          <a:solidFill>
            <a:srgbClr val="E05C3A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126" y="2175358"/>
            <a:ext cx="221285" cy="2212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78408" y="213055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认知-行为鸿沟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78408" y="240487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3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知道 ≠ 做到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6072" y="2651760"/>
            <a:ext cx="2377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人类大脑处理「现在享受」vs「未来健康」时，前者权重天然更高。慢病特点是当下无痛感，代价延迟数年显现。这个时间差导致执行力持续衰减，与患者意志力无关，是神经科学层面的本能机制。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76072" y="3950208"/>
            <a:ext cx="2377440" cy="74980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67512" y="4005072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3986784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「今天少吃一碗饭」的收益，大脑感知不到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46120" y="19933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46120" y="1993392"/>
            <a:ext cx="265176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5" name="Shape 21"/>
          <p:cNvSpPr/>
          <p:nvPr/>
        </p:nvSpPr>
        <p:spPr>
          <a:xfrm>
            <a:off x="3410712" y="2121408"/>
            <a:ext cx="329184" cy="32918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Text 22"/>
          <p:cNvSpPr/>
          <p:nvPr/>
        </p:nvSpPr>
        <p:spPr>
          <a:xfrm>
            <a:off x="3410712" y="21214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349240" y="2084832"/>
            <a:ext cx="402336" cy="402336"/>
          </a:xfrm>
          <a:prstGeom prst="ellipse">
            <a:avLst/>
          </a:prstGeom>
          <a:solidFill>
            <a:srgbClr val="7C3AED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766" y="2175358"/>
            <a:ext cx="221285" cy="22128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13048" y="213055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孤立感与慢性焦虑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3813048" y="240487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情绪障碍是最大依从杀手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3410712" y="2651760"/>
            <a:ext cx="2377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慢病患者中焦虑抑郁比例是普通人群2-3倍。家人不理解、朋友不懂专业、独自面对疾病产生的孤立感，是巨大心理负担。焦虑本身通过皮质醇升高，直接影响血糖和血压等生理指标——情绪和疾病形成恶性循环。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3410712" y="3950208"/>
            <a:ext cx="237744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3502152" y="4005072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749040" y="3986784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「我知道要控制，但就是控制不住，我很绝望」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080760" y="19933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080760" y="1993392"/>
            <a:ext cx="2651760" cy="54864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37" name="Shape 31"/>
          <p:cNvSpPr/>
          <p:nvPr/>
        </p:nvSpPr>
        <p:spPr>
          <a:xfrm>
            <a:off x="6245352" y="2121408"/>
            <a:ext cx="329184" cy="329184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38" name="Text 32"/>
          <p:cNvSpPr/>
          <p:nvPr/>
        </p:nvSpPr>
        <p:spPr>
          <a:xfrm>
            <a:off x="6245352" y="21214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8183880" y="2084832"/>
            <a:ext cx="402336" cy="402336"/>
          </a:xfrm>
          <a:prstGeom prst="ellipse">
            <a:avLst/>
          </a:prstGeom>
          <a:solidFill>
            <a:srgbClr val="0D7377"/>
          </a:solidFill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406" y="2175358"/>
            <a:ext cx="221285" cy="22128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647688" y="213055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反馈回路太长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6647688" y="240487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延迟反馈导致行为消退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6245352" y="2651760"/>
            <a:ext cx="2377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今天少吃盐，感知不到血压下降；今天坚持散步，感知不到eGFR改善。人类行为强化需要及时的正向反馈，而慢病管理的成果反馈天然是以月甚至年为单位。没有即时成就感，行为持续的动力会快速耗尽。</a:t>
            </a:r>
            <a:endParaRPr lang="en-US" sz="980" dirty="0"/>
          </a:p>
        </p:txBody>
      </p:sp>
      <p:sp>
        <p:nvSpPr>
          <p:cNvPr id="44" name="Shape 37"/>
          <p:cNvSpPr/>
          <p:nvPr/>
        </p:nvSpPr>
        <p:spPr>
          <a:xfrm>
            <a:off x="6245352" y="3950208"/>
            <a:ext cx="237744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336792" y="4005072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583680" y="3986784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「坚持了两个月，什么改变都看不到，还有意义吗」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50292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D3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AI陪伴切中三层障碍的底层机制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不是在信息推送上做加法，而是改变行为发生的底层条件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78992"/>
            <a:ext cx="8321040" cy="54864"/>
          </a:xfrm>
          <a:prstGeom prst="rect">
            <a:avLst/>
          </a:prstGeom>
          <a:solidFill>
            <a:srgbClr val="E05C3A"/>
          </a:solidFill>
        </p:spPr>
      </p:sp>
      <p:sp>
        <p:nvSpPr>
          <p:cNvPr id="9" name="Shape 7"/>
          <p:cNvSpPr/>
          <p:nvPr/>
        </p:nvSpPr>
        <p:spPr>
          <a:xfrm>
            <a:off x="502920" y="1170432"/>
            <a:ext cx="1920240" cy="237744"/>
          </a:xfrm>
          <a:prstGeom prst="rect">
            <a:avLst/>
          </a:prstGeom>
          <a:solidFill>
            <a:srgbClr val="E05C3A">
              <a:alpha val="85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502920" y="117043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针对障碍①  认知-行为鸿沟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" y="1536192"/>
            <a:ext cx="402336" cy="402336"/>
          </a:xfrm>
          <a:prstGeom prst="ellipse">
            <a:avLst/>
          </a:prstGeom>
          <a:solidFill>
            <a:srgbClr val="E05C3A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30" y="1626718"/>
            <a:ext cx="221285" cy="22128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8865" y="1572895"/>
            <a:ext cx="1327150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3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把行为决策粒度切到最小</a:t>
            </a:r>
            <a:endParaRPr lang="en-US" sz="1200" b="1" dirty="0">
              <a:solidFill>
                <a:srgbClr val="E05C3A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42032" y="1188720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15" name="Text 12"/>
          <p:cNvSpPr/>
          <p:nvPr/>
        </p:nvSpPr>
        <p:spPr>
          <a:xfrm>
            <a:off x="2651760" y="1170432"/>
            <a:ext cx="3474720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不再是「遵守一份方案」，而是「回答一个具体问题」。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AI问：「你今天中午准备吃什么？根据你昨天的血糖和今日节气，建议把主食换成半碗山药粥，你觉得可以吗？」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决策从宏观计划变为一次微小选择，执行门槛大幅降低。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236208" y="1188720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17" name="Shape 14"/>
          <p:cNvSpPr/>
          <p:nvPr/>
        </p:nvSpPr>
        <p:spPr>
          <a:xfrm>
            <a:off x="6309360" y="1170432"/>
            <a:ext cx="2286000" cy="960120"/>
          </a:xfrm>
          <a:prstGeom prst="rect">
            <a:avLst/>
          </a:prstGeom>
          <a:solidFill>
            <a:srgbClr val="EBF4F3"/>
          </a:solidFill>
          <a:ln w="12700">
            <a:solidFill>
              <a:srgbClr val="E05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170432"/>
            <a:ext cx="2286000" cy="201168"/>
          </a:xfrm>
          <a:prstGeom prst="rect">
            <a:avLst/>
          </a:prstGeom>
          <a:solidFill>
            <a:srgbClr val="E05C3A">
              <a:alpha val="15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6309360" y="117043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5C3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理论背书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82512" y="1399032"/>
            <a:ext cx="213969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行为科学原理：「执行意图（Implementation Intention）」——把行为与具体情境绑定，执行率提升2-3倍（Gollwitzer, 1999）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11480" y="2340864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2340864"/>
            <a:ext cx="83210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Shape 20"/>
          <p:cNvSpPr/>
          <p:nvPr/>
        </p:nvSpPr>
        <p:spPr>
          <a:xfrm>
            <a:off x="502920" y="2432304"/>
            <a:ext cx="1920240" cy="237744"/>
          </a:xfrm>
          <a:prstGeom prst="rect">
            <a:avLst/>
          </a:prstGeom>
          <a:solidFill>
            <a:srgbClr val="7C3AED">
              <a:alpha val="85000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502920" y="243230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针对障碍②  孤立感与焦虑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3504" y="2798064"/>
            <a:ext cx="402336" cy="402336"/>
          </a:xfrm>
          <a:prstGeom prst="ellipse">
            <a:avLst/>
          </a:prstGeom>
          <a:solidFill>
            <a:srgbClr val="7C3AED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30" y="2888590"/>
            <a:ext cx="221285" cy="22128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78865" y="2834640"/>
            <a:ext cx="1344930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提供随时可得的「有人在」感知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542032" y="2450592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29" name="Text 25"/>
          <p:cNvSpPr/>
          <p:nvPr/>
        </p:nvSpPr>
        <p:spPr>
          <a:xfrm>
            <a:off x="2651760" y="2432304"/>
            <a:ext cx="3474720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患者深夜血糖突然高了会焦虑。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现有产品给的是警报推送 → 更焦虑。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AI给的是：「血糖比平时高一些，结合你下午那顿饭，可能是主食稍多了，不用太担心，明早再测一次对比，我会帮你关注。」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消除孤独感和不确定感，比医疗信息准确性更影响依从性。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6236208" y="2450592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31" name="Shape 27"/>
          <p:cNvSpPr/>
          <p:nvPr/>
        </p:nvSpPr>
        <p:spPr>
          <a:xfrm>
            <a:off x="6309360" y="2432304"/>
            <a:ext cx="2286000" cy="960120"/>
          </a:xfrm>
          <a:prstGeom prst="rect">
            <a:avLst/>
          </a:prstGeom>
          <a:solidFill>
            <a:srgbClr val="EBF4F3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09360" y="2432304"/>
            <a:ext cx="2286000" cy="201168"/>
          </a:xfrm>
          <a:prstGeom prst="rect">
            <a:avLst/>
          </a:prstGeom>
          <a:solidFill>
            <a:srgbClr val="7C3AED">
              <a:alpha val="15000"/>
            </a:srgbClr>
          </a:solidFill>
        </p:spPr>
      </p:sp>
      <p:sp>
        <p:nvSpPr>
          <p:cNvPr id="33" name="Text 29"/>
          <p:cNvSpPr/>
          <p:nvPr/>
        </p:nvSpPr>
        <p:spPr>
          <a:xfrm>
            <a:off x="6309360" y="243230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理论背书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6382512" y="2660904"/>
            <a:ext cx="213969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心理学原理：「依恋理论」——感到被支持和理解时，人更愿意做出健康行为。研究显示社会支持与慢病依从性相关系数r=0.46（DiMatteo, 2004）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411480" y="3602736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11480" y="3602736"/>
            <a:ext cx="8321040" cy="54864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37" name="Shape 33"/>
          <p:cNvSpPr/>
          <p:nvPr/>
        </p:nvSpPr>
        <p:spPr>
          <a:xfrm>
            <a:off x="502920" y="3694176"/>
            <a:ext cx="1920240" cy="237744"/>
          </a:xfrm>
          <a:prstGeom prst="rect">
            <a:avLst/>
          </a:prstGeom>
          <a:solidFill>
            <a:srgbClr val="0D7377">
              <a:alpha val="85000"/>
            </a:srgbClr>
          </a:solidFill>
        </p:spPr>
      </p:sp>
      <p:sp>
        <p:nvSpPr>
          <p:cNvPr id="38" name="Text 34"/>
          <p:cNvSpPr/>
          <p:nvPr/>
        </p:nvSpPr>
        <p:spPr>
          <a:xfrm>
            <a:off x="502920" y="369417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针对障碍③  反馈回路太长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03504" y="4059936"/>
            <a:ext cx="402336" cy="402336"/>
          </a:xfrm>
          <a:prstGeom prst="ellipse">
            <a:avLst/>
          </a:prstGeom>
          <a:solidFill>
            <a:srgbClr val="0D7377"/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30" y="4150462"/>
            <a:ext cx="221285" cy="22128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078865" y="4096385"/>
            <a:ext cx="1327150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把复杂数据翻译成即时进步叙事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2542032" y="3712464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43" name="Text 38"/>
          <p:cNvSpPr/>
          <p:nvPr/>
        </p:nvSpPr>
        <p:spPr>
          <a:xfrm>
            <a:off x="2651760" y="3694176"/>
            <a:ext cx="3474720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「你这周血糖波动比上周下降了18%，这相当于你的肾脏少承受了18%的代谢压力。」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患者不只是看到一个数字，他看到了自己的努力产生了真实效果。</a:t>
            </a:r>
            <a:endParaRPr lang="en-US" sz="9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正向强化不再依赖数月后的指标改善，而是每周可感知。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36208" y="3712464"/>
            <a:ext cx="27432" cy="932688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45" name="Shape 40"/>
          <p:cNvSpPr/>
          <p:nvPr/>
        </p:nvSpPr>
        <p:spPr>
          <a:xfrm>
            <a:off x="6309360" y="3694176"/>
            <a:ext cx="2286000" cy="960120"/>
          </a:xfrm>
          <a:prstGeom prst="rect">
            <a:avLst/>
          </a:prstGeom>
          <a:solidFill>
            <a:srgbClr val="EBF4F3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309360" y="3694176"/>
            <a:ext cx="2286000" cy="201168"/>
          </a:xfrm>
          <a:prstGeom prst="rect">
            <a:avLst/>
          </a:prstGeom>
          <a:solidFill>
            <a:srgbClr val="0D7377">
              <a:alpha val="15000"/>
            </a:srgbClr>
          </a:solidFill>
        </p:spPr>
      </p:sp>
      <p:sp>
        <p:nvSpPr>
          <p:cNvPr id="47" name="Text 42"/>
          <p:cNvSpPr/>
          <p:nvPr/>
        </p:nvSpPr>
        <p:spPr>
          <a:xfrm>
            <a:off x="6309360" y="369417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理论背书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6382512" y="3922776"/>
            <a:ext cx="213969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行为经济学原理：「即时强化（Immediate Reinforcement）」——行为完成后的即时正向反馈，是持续行为最有效的动力来源（Skinner, 操作性条件反射）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50292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D3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全球标杆产品实证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三个已验证的成功案例，证明这条路走得通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E0DC"/>
          </a:solidFill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1965960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24712"/>
            <a:ext cx="1965960" cy="412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3.6×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486449"/>
            <a:ext cx="1965960" cy="284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Noom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行为干预效果倍数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1965960" cy="7498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124712"/>
            <a:ext cx="1965960" cy="412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486449"/>
            <a:ext cx="1965960" cy="284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Livongo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HbA1c平均下降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1965960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124712"/>
            <a:ext cx="1965960" cy="412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1486449"/>
            <a:ext cx="1965960" cy="284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Oura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订阅用户留存率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1051560"/>
            <a:ext cx="196596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124712"/>
            <a:ext cx="1965960" cy="412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550万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1486449"/>
            <a:ext cx="1965960" cy="284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Oura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FFDF8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累计销售枚数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1938528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1938528"/>
            <a:ext cx="2651760" cy="54864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1" name="Text 19"/>
          <p:cNvSpPr/>
          <p:nvPr/>
        </p:nvSpPr>
        <p:spPr>
          <a:xfrm>
            <a:off x="576072" y="20299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Noom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" y="23957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美国·行为改变类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" y="2633472"/>
            <a:ext cx="2377440" cy="201168"/>
          </a:xfrm>
          <a:prstGeom prst="rect">
            <a:avLst/>
          </a:prstGeom>
          <a:solidFill>
            <a:srgbClr val="4F46E5">
              <a:alpha val="15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576072" y="263347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切中障碍①：认知-行为鸿沟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" y="288950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不做营养方案，做认知行为对话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" y="3163824"/>
            <a:ext cx="2377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将认知行为疗法（CBT）拆解为每日5分钟对话课，通过提问和反思引导用户建立新的饮食认知，把「应该少吃」变成「我主动选择少吃」的内在动机转变。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" y="3941318"/>
            <a:ext cx="2377440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" y="395960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实证结果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" y="4087622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8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临床研究：18个月体重维持率是传统饮食干预的3.6倍，再增重率下降62%。付费用户超450万，估值37亿美元。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246120" y="1938528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938528"/>
            <a:ext cx="2651760" cy="54864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2" name="Text 30"/>
          <p:cNvSpPr/>
          <p:nvPr/>
        </p:nvSpPr>
        <p:spPr>
          <a:xfrm>
            <a:off x="3410712" y="20299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DA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Livongo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10712" y="23957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美国·糖尿病慢病管理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10712" y="2633472"/>
            <a:ext cx="2377440" cy="201168"/>
          </a:xfrm>
          <a:prstGeom prst="rect">
            <a:avLst/>
          </a:prstGeom>
          <a:solidFill>
            <a:srgbClr val="14BDAC">
              <a:alpha val="15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3410712" y="263347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DA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切中障碍③：反馈回路太长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10712" y="288950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智能血糖仪+即时解释性反馈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10712" y="3163824"/>
            <a:ext cx="2377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血糖仪检测完成后，如果数值异常，不推送警报，而是推送一条解释性消息：「你的血糖偏高，结合你上午记录的饮食，可能与早餐碳水偏多有关，下次可以尝试减少...」每一次测量都是即时的学习机会。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10712" y="3966083"/>
            <a:ext cx="2377440" cy="56692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10712" y="398437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实证结果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47288" y="4112387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8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参与患者平均HbA1c下降1.1个百分点；再住院率下降13%；患者测量频率提升40%（主动行为，而非被催）。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080760" y="1938528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1938528"/>
            <a:ext cx="2651760" cy="54864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43" name="Text 41"/>
          <p:cNvSpPr/>
          <p:nvPr/>
        </p:nvSpPr>
        <p:spPr>
          <a:xfrm>
            <a:off x="6245352" y="20299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Oura Ring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5352" y="23957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8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芬兰·健康追踪硬件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45352" y="2633472"/>
            <a:ext cx="2377440" cy="201168"/>
          </a:xfrm>
          <a:prstGeom prst="rect">
            <a:avLst/>
          </a:prstGeom>
          <a:solidFill>
            <a:srgbClr val="EA580C">
              <a:alpha val="15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245352" y="263347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切中障碍②③：孤立感+即时反馈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45352" y="283997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无感数据采集+AI健康管家对话</a:t>
            </a:r>
            <a:endParaRPr lang="en-US" sz="1000" b="1" dirty="0">
              <a:solidFill>
                <a:srgbClr val="1A2E2B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45352" y="3219069"/>
            <a:ext cx="23774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E2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2024年推出Oura Advisor，将18个传感器采集的数据（睡眠、心率、体温、血氧）翻译成一句可执行建议：「今晚提前30分钟入睡，根据你今天的HRV数据，明天运动强度建议降低20%。」用户不需要理解数据，只需要理解建议。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45352" y="4073398"/>
            <a:ext cx="237744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45352" y="409168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实证结果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81928" y="4219702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8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订阅用户留存率超75%；2024年销售额约5亿美元同比翻番；估值52亿美元；与Dexcom合作扩展到血糖管理领域。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产品定位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核心转变：让患者感受到"有人陪"，而非"在购买"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7472" y="109728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1" name="Shape 9"/>
          <p:cNvSpPr/>
          <p:nvPr/>
        </p:nvSpPr>
        <p:spPr>
          <a:xfrm>
            <a:off x="347472" y="1508760"/>
            <a:ext cx="3840480" cy="32918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508760"/>
            <a:ext cx="3840480" cy="50292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13" name="Text 11"/>
          <p:cNvSpPr/>
          <p:nvPr/>
        </p:nvSpPr>
        <p:spPr>
          <a:xfrm>
            <a:off x="502920" y="1600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7A"/>
                </a:solidFill>
              </a:rPr>
              <a:t>❌  传统模式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084832"/>
            <a:ext cx="182880" cy="182880"/>
          </a:xfrm>
          <a:prstGeom prst="ellipse">
            <a:avLst/>
          </a:prstGeom>
          <a:solidFill>
            <a:srgbClr val="FF5C7A">
              <a:alpha val="5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49808" y="206654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展示服务包列表，用户看价格选套餐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182880" cy="182880"/>
          </a:xfrm>
          <a:prstGeom prst="ellipse">
            <a:avLst/>
          </a:prstGeom>
          <a:solidFill>
            <a:srgbClr val="FF5C7A">
              <a:alpha val="5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749808" y="254203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所有患者收到相同的推送内容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FF5C7A">
              <a:alpha val="5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749808" y="3017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服务感知弱，离开APP后失联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11296"/>
            <a:ext cx="182880" cy="182880"/>
          </a:xfrm>
          <a:prstGeom prst="ellipse">
            <a:avLst/>
          </a:prstGeom>
          <a:solidFill>
            <a:srgbClr val="FF5C7A">
              <a:alpha val="5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749808" y="349300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随访靠人工联系</a:t>
            </a:r>
            <a:r>
              <a:rPr lang="zh-CN" altLang="en-US" sz="1150" dirty="0">
                <a:solidFill>
                  <a:srgbClr val="B8CDE0"/>
                </a:solidFill>
              </a:rPr>
              <a:t>为主</a:t>
            </a:r>
            <a:r>
              <a:rPr lang="en-US" sz="1150" dirty="0">
                <a:solidFill>
                  <a:srgbClr val="B8CDE0"/>
                </a:solidFill>
              </a:rPr>
              <a:t>，效率极低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986784"/>
            <a:ext cx="182880" cy="182880"/>
          </a:xfrm>
          <a:prstGeom prst="ellipse">
            <a:avLst/>
          </a:prstGeom>
          <a:solidFill>
            <a:srgbClr val="FF5C7A">
              <a:alpha val="5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49808" y="39684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运营团队手动配置患者计划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E0"/>
                </a:solidFill>
              </a:rPr>
              <a:t>→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4956048" y="1508760"/>
            <a:ext cx="3840480" cy="32918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6048" y="1508760"/>
            <a:ext cx="3840480" cy="50292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27" name="Text 25"/>
          <p:cNvSpPr/>
          <p:nvPr/>
        </p:nvSpPr>
        <p:spPr>
          <a:xfrm>
            <a:off x="5120640" y="1600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9A"/>
                </a:solidFill>
              </a:rPr>
              <a:t>✅  新模式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20640" y="2084832"/>
            <a:ext cx="182880" cy="182880"/>
          </a:xfrm>
          <a:prstGeom prst="ellipse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5349240" y="206654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组建专属康复团队，角色化选择助手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120640" y="2560320"/>
            <a:ext cx="182880" cy="182880"/>
          </a:xfrm>
          <a:prstGeom prst="ellipse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5349240" y="254203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基于健康档案实时生成个性化内容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20640" y="3035808"/>
            <a:ext cx="182880" cy="182880"/>
          </a:xfrm>
          <a:prstGeom prst="ellipse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5349240" y="3017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聊天助手主动联系，真人感陪伴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20640" y="3511296"/>
            <a:ext cx="182880" cy="182880"/>
          </a:xfrm>
          <a:prstGeom prst="ellipse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5349240" y="349300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AI Agent自动生成并执行随访计划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120640" y="3986784"/>
            <a:ext cx="182880" cy="182880"/>
          </a:xfrm>
          <a:prstGeom prst="ellipse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5349240" y="39684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DE0"/>
                </a:solidFill>
              </a:rPr>
              <a:t>运营从"执行者"变为"审核者"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产品定位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59055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以食道癌为切入，构建全病种通用平台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15747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1个病种验证模型，N个病种复用框架，边际成本趋近于零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520440" y="1600200"/>
            <a:ext cx="2103120" cy="2103120"/>
          </a:xfrm>
          <a:prstGeom prst="ellipse">
            <a:avLst/>
          </a:prstGeom>
          <a:solidFill>
            <a:srgbClr val="00C8E0">
              <a:alpha val="80000"/>
            </a:srgbClr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755648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20440" y="245059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食道癌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72491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DEEE"/>
                </a:solidFill>
              </a:rPr>
              <a:t>切入点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1605280"/>
            <a:ext cx="18288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1454150"/>
            <a:ext cx="1828800" cy="41148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18" name="Text 16"/>
          <p:cNvSpPr/>
          <p:nvPr/>
        </p:nvSpPr>
        <p:spPr>
          <a:xfrm>
            <a:off x="274320" y="16129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胃癌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1920875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协议复用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预计2-3周上线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3200400"/>
            <a:ext cx="18288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200400"/>
            <a:ext cx="1828800" cy="41148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2" name="Text 20"/>
          <p:cNvSpPr/>
          <p:nvPr/>
        </p:nvSpPr>
        <p:spPr>
          <a:xfrm>
            <a:off x="274320" y="3291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肺癌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5661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同样框架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仅需配置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1371600"/>
            <a:ext cx="18288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371600"/>
            <a:ext cx="1828800" cy="41148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26" name="Text 24"/>
          <p:cNvSpPr/>
          <p:nvPr/>
        </p:nvSpPr>
        <p:spPr>
          <a:xfrm>
            <a:off x="6949440" y="1463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糖尿病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7373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慢病管理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最大基数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3200400"/>
            <a:ext cx="18288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3200400"/>
            <a:ext cx="1828800" cy="41148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0" name="Text 28"/>
          <p:cNvSpPr/>
          <p:nvPr/>
        </p:nvSpPr>
        <p:spPr>
          <a:xfrm>
            <a:off x="6949440" y="3291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心血管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高价值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付费意愿强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4055745"/>
            <a:ext cx="18288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0" y="4055745"/>
            <a:ext cx="1828800" cy="41148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38" name="Text 36"/>
          <p:cNvSpPr/>
          <p:nvPr/>
        </p:nvSpPr>
        <p:spPr>
          <a:xfrm>
            <a:off x="3749040" y="4147185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更多病种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49040" y="4421505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无限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扩展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3" name="Shape 1"/>
          <p:cNvSpPr/>
          <p:nvPr/>
        </p:nvSpPr>
        <p:spPr>
          <a:xfrm>
            <a:off x="4572000" y="-457200"/>
            <a:ext cx="5943600" cy="5943600"/>
          </a:xfrm>
          <a:prstGeom prst="ellipse">
            <a:avLst/>
          </a:prstGeom>
          <a:solidFill>
            <a:srgbClr val="00D49A">
              <a:alpha val="6000"/>
            </a:srgbClr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00D49A"/>
                </a:solidFill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 端产品设计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340156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99B5"/>
                </a:solidFill>
              </a:rPr>
              <a:t>入组流程 · 康复团队 · 聊天助手 · 健康分身 · 依从性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C端产品设计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用户入组流程：5步完成，全程约3分钟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扫码即入组，低摩擦，高完成率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691640"/>
            <a:ext cx="1554480" cy="10972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91640"/>
            <a:ext cx="1554480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Shape 12"/>
          <p:cNvSpPr/>
          <p:nvPr/>
        </p:nvSpPr>
        <p:spPr>
          <a:xfrm>
            <a:off x="914400" y="1463040"/>
            <a:ext cx="420624" cy="420624"/>
          </a:xfrm>
          <a:prstGeom prst="ellipse">
            <a:avLst/>
          </a:prstGeom>
          <a:solidFill>
            <a:srgbClr val="00C8E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630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E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785" y="1978660"/>
            <a:ext cx="1371600" cy="307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扫医生二维码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405253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DE0"/>
                </a:solidFill>
              </a:rPr>
              <a:t>身份关联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DE0"/>
                </a:solidFill>
              </a:rPr>
              <a:t>科室绑定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20240" y="2194560"/>
            <a:ext cx="2286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075688"/>
            <a:ext cx="128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E0"/>
                </a:solidFill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66544" y="1691640"/>
            <a:ext cx="1554480" cy="10972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66544" y="1691640"/>
            <a:ext cx="1554480" cy="457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22" name="Shape 20"/>
          <p:cNvSpPr/>
          <p:nvPr/>
        </p:nvSpPr>
        <p:spPr>
          <a:xfrm>
            <a:off x="2633472" y="1463040"/>
            <a:ext cx="420624" cy="420624"/>
          </a:xfrm>
          <a:prstGeom prst="ellipse">
            <a:avLst/>
          </a:prstGeom>
          <a:solidFill>
            <a:srgbClr val="00D49A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33472" y="14630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E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57984" y="1965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sym typeface="+mn-ea"/>
              </a:rPr>
              <a:t>填写健康档案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57984" y="231317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DE0"/>
                </a:solidFill>
              </a:rPr>
              <a:t>高危 / 术前/ 术后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9312" y="2194560"/>
            <a:ext cx="2286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2075688"/>
            <a:ext cx="128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E0"/>
                </a:solidFill>
              </a:rPr>
              <a:t>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85616" y="1691640"/>
            <a:ext cx="1554480" cy="10972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85616" y="1691640"/>
            <a:ext cx="1554480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30" name="Shape 28"/>
          <p:cNvSpPr/>
          <p:nvPr/>
        </p:nvSpPr>
        <p:spPr>
          <a:xfrm>
            <a:off x="4352544" y="1463040"/>
            <a:ext cx="420624" cy="420624"/>
          </a:xfrm>
          <a:prstGeom prst="ellipse">
            <a:avLst/>
          </a:prstGeom>
          <a:solidFill>
            <a:srgbClr val="FFD166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52544" y="14630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E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77056" y="1947545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填写分层评估</a:t>
            </a:r>
            <a:r>
              <a:rPr lang="zh-CN" altLang="en-US" sz="1200" b="1" dirty="0">
                <a:solidFill>
                  <a:srgbClr val="FFFFFF"/>
                </a:solidFill>
              </a:rPr>
              <a:t>表单</a:t>
            </a:r>
            <a:endParaRPr lang="zh-CN" altLang="en-US" sz="1200" b="1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77056" y="2285873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950" dirty="0">
                <a:solidFill>
                  <a:srgbClr val="B8CDE0"/>
                </a:solidFill>
              </a:rPr>
              <a:t>患者</a:t>
            </a:r>
            <a:r>
              <a:rPr lang="zh-CN" altLang="en-US" sz="950" dirty="0">
                <a:solidFill>
                  <a:srgbClr val="B8CDE0"/>
                </a:solidFill>
              </a:rPr>
              <a:t>自动分层</a:t>
            </a:r>
            <a:endParaRPr lang="zh-CN" altLang="en-US" sz="950" dirty="0">
              <a:solidFill>
                <a:srgbClr val="B8CDE0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358384" y="2194560"/>
            <a:ext cx="2286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2075688"/>
            <a:ext cx="128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E0"/>
                </a:solidFill>
              </a:rPr>
              <a:t>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04688" y="1691640"/>
            <a:ext cx="1554480" cy="10972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04688" y="1691640"/>
            <a:ext cx="1554480" cy="45720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38" name="Shape 36"/>
          <p:cNvSpPr/>
          <p:nvPr/>
        </p:nvSpPr>
        <p:spPr>
          <a:xfrm>
            <a:off x="6071616" y="1463040"/>
            <a:ext cx="420624" cy="420624"/>
          </a:xfrm>
          <a:prstGeom prst="ellipse">
            <a:avLst/>
          </a:prstGeom>
          <a:solidFill>
            <a:srgbClr val="B98FFF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71616" y="14630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E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96128" y="191135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组建康复团队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96128" y="226745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DE0"/>
                </a:solidFill>
              </a:rPr>
              <a:t>选择助手服务版本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77456" y="2194560"/>
            <a:ext cx="2286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2075688"/>
            <a:ext cx="128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E0"/>
                </a:solidFill>
              </a:rPr>
              <a:t>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23760" y="1691640"/>
            <a:ext cx="1554480" cy="10972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23760" y="1691640"/>
            <a:ext cx="1554480" cy="45720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46" name="Shape 44"/>
          <p:cNvSpPr/>
          <p:nvPr/>
        </p:nvSpPr>
        <p:spPr>
          <a:xfrm>
            <a:off x="7790688" y="1463040"/>
            <a:ext cx="420624" cy="420624"/>
          </a:xfrm>
          <a:prstGeom prst="ellipse">
            <a:avLst/>
          </a:prstGeom>
          <a:solidFill>
            <a:srgbClr val="FF5C7A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90688" y="14630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E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15200" y="1853565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领取助手开始服务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2292223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DE0"/>
                </a:solidFill>
              </a:rPr>
              <a:t>进入聊天专属陪伴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7472" y="3200400"/>
            <a:ext cx="8430768" cy="166420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7472" y="3200400"/>
            <a:ext cx="8430768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52" name="Text 50"/>
          <p:cNvSpPr/>
          <p:nvPr/>
        </p:nvSpPr>
        <p:spPr>
          <a:xfrm>
            <a:off x="502920" y="3291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</a:rPr>
              <a:t>💡 关键设计原则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C端产品设计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食道癌专属 8 大康复助手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每位助手对应独立聊天窗口，免费版 + 付费升级版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50876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508760"/>
            <a:ext cx="1965960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4" name="Text 12"/>
          <p:cNvSpPr/>
          <p:nvPr/>
        </p:nvSpPr>
        <p:spPr>
          <a:xfrm>
            <a:off x="393192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" y="1618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营养饮食助理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0756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流食方案/防反流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饮食/体重监测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1984248"/>
            <a:ext cx="914400" cy="18288"/>
          </a:xfrm>
          <a:prstGeom prst="rect">
            <a:avLst/>
          </a:prstGeom>
          <a:solidFill>
            <a:srgbClr val="FFD166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438912" y="2697480"/>
            <a:ext cx="1783080" cy="201168"/>
          </a:xfrm>
          <a:prstGeom prst="rect">
            <a:avLst/>
          </a:prstGeom>
          <a:solidFill>
            <a:srgbClr val="FF5C7A">
              <a:alpha val="18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438912" y="26974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5C7A"/>
                </a:solidFill>
              </a:rPr>
              <a:t>⭐术后必选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96312" y="150876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96312" y="1508760"/>
            <a:ext cx="1965960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22" name="Text 20"/>
          <p:cNvSpPr/>
          <p:nvPr/>
        </p:nvSpPr>
        <p:spPr>
          <a:xfrm>
            <a:off x="2542032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26664" y="1618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随访助理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20756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复查时间/检查清单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/报告提醒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87752" y="1984248"/>
            <a:ext cx="914400" cy="18288"/>
          </a:xfrm>
          <a:prstGeom prst="rect">
            <a:avLst/>
          </a:prstGeom>
          <a:solidFill>
            <a:srgbClr val="00C8E0">
              <a:alpha val="4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2587752" y="2697480"/>
            <a:ext cx="1783080" cy="201168"/>
          </a:xfrm>
          <a:prstGeom prst="rect">
            <a:avLst/>
          </a:prstGeom>
          <a:solidFill>
            <a:srgbClr val="00C8E0">
              <a:alpha val="18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2587752" y="26974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E0"/>
                </a:solidFill>
              </a:rPr>
              <a:t>全分层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150876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1508760"/>
            <a:ext cx="1965960" cy="45720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0" name="Text 28"/>
          <p:cNvSpPr/>
          <p:nvPr/>
        </p:nvSpPr>
        <p:spPr>
          <a:xfrm>
            <a:off x="4690872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75504" y="1618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症状监测助理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20756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每日打卡/异常预警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/急症识别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36592" y="1984248"/>
            <a:ext cx="914400" cy="18288"/>
          </a:xfrm>
          <a:prstGeom prst="rect">
            <a:avLst/>
          </a:prstGeom>
          <a:solidFill>
            <a:srgbClr val="FF5C7A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4736592" y="2697480"/>
            <a:ext cx="1783080" cy="201168"/>
          </a:xfrm>
          <a:prstGeom prst="rect">
            <a:avLst/>
          </a:prstGeom>
          <a:solidFill>
            <a:srgbClr val="FF5C7A">
              <a:alpha val="18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4736592" y="26974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5C7A"/>
                </a:solidFill>
              </a:rPr>
              <a:t>⭐术后必选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93992" y="150876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93992" y="1508760"/>
            <a:ext cx="1965960" cy="457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38" name="Text 36"/>
          <p:cNvSpPr/>
          <p:nvPr/>
        </p:nvSpPr>
        <p:spPr>
          <a:xfrm>
            <a:off x="6839712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24344" y="1618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康复运动助理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20756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呼吸训练/步行方案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/渐进康复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85432" y="1984248"/>
            <a:ext cx="914400" cy="18288"/>
          </a:xfrm>
          <a:prstGeom prst="rect">
            <a:avLst/>
          </a:prstGeom>
          <a:solidFill>
            <a:srgbClr val="00D49A">
              <a:alpha val="4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885432" y="2697480"/>
            <a:ext cx="1783080" cy="201168"/>
          </a:xfrm>
          <a:prstGeom prst="rect">
            <a:avLst/>
          </a:prstGeom>
          <a:solidFill>
            <a:srgbClr val="00C8E0">
              <a:alpha val="18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6885432" y="26974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E0"/>
                </a:solidFill>
              </a:rPr>
              <a:t>术后推荐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315468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7472" y="3154680"/>
            <a:ext cx="1965960" cy="45720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46" name="Text 44"/>
          <p:cNvSpPr/>
          <p:nvPr/>
        </p:nvSpPr>
        <p:spPr>
          <a:xfrm>
            <a:off x="393192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77824" y="32644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用药管理助理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" y="372160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服药提醒/副作用识别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/药师咨询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8912" y="3630168"/>
            <a:ext cx="914400" cy="18288"/>
          </a:xfrm>
          <a:prstGeom prst="rect">
            <a:avLst/>
          </a:prstGeom>
          <a:solidFill>
            <a:srgbClr val="B98FFF">
              <a:alpha val="4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438912" y="4343400"/>
            <a:ext cx="1783080" cy="201168"/>
          </a:xfrm>
          <a:prstGeom prst="rect">
            <a:avLst/>
          </a:prstGeom>
          <a:solidFill>
            <a:srgbClr val="00C8E0">
              <a:alpha val="18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438912" y="434340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E0"/>
                </a:solidFill>
              </a:rPr>
              <a:t>放化疗患者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96312" y="315468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96312" y="3154680"/>
            <a:ext cx="1965960" cy="45720"/>
          </a:xfrm>
          <a:prstGeom prst="rect">
            <a:avLst/>
          </a:prstGeom>
          <a:solidFill>
            <a:srgbClr val="5ADEEE"/>
          </a:solidFill>
        </p:spPr>
      </p:sp>
      <p:sp>
        <p:nvSpPr>
          <p:cNvPr id="54" name="Text 52"/>
          <p:cNvSpPr/>
          <p:nvPr/>
        </p:nvSpPr>
        <p:spPr>
          <a:xfrm>
            <a:off x="2542032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😊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026664" y="32644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心情助理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87752" y="372160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情绪打卡/焦虑筛查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/正念引导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87752" y="3630168"/>
            <a:ext cx="914400" cy="18288"/>
          </a:xfrm>
          <a:prstGeom prst="rect">
            <a:avLst/>
          </a:prstGeom>
          <a:solidFill>
            <a:srgbClr val="5ADEEE">
              <a:alpha val="4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2587752" y="4343400"/>
            <a:ext cx="1783080" cy="201168"/>
          </a:xfrm>
          <a:prstGeom prst="rect">
            <a:avLst/>
          </a:prstGeom>
          <a:solidFill>
            <a:srgbClr val="00C8E0">
              <a:alpha val="18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2587752" y="434340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E0"/>
                </a:solidFill>
              </a:rPr>
              <a:t>全分层推荐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45152" y="315468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45152" y="3154680"/>
            <a:ext cx="1965960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62" name="Text 60"/>
          <p:cNvSpPr/>
          <p:nvPr/>
        </p:nvSpPr>
        <p:spPr>
          <a:xfrm>
            <a:off x="4620387" y="312356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‍👩‍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5175504" y="32644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家属助理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36592" y="372160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照护指南/家庭饮食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/沟通技巧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36592" y="3630168"/>
            <a:ext cx="914400" cy="18288"/>
          </a:xfrm>
          <a:prstGeom prst="rect">
            <a:avLst/>
          </a:prstGeom>
          <a:solidFill>
            <a:srgbClr val="FFD166">
              <a:alpha val="4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4736592" y="4343400"/>
            <a:ext cx="1783080" cy="201168"/>
          </a:xfrm>
          <a:prstGeom prst="rect">
            <a:avLst/>
          </a:prstGeom>
          <a:solidFill>
            <a:srgbClr val="FFD166">
              <a:alpha val="18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4736592" y="434340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</a:rPr>
              <a:t>高端版专属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93992" y="3154680"/>
            <a:ext cx="1965960" cy="146304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793992" y="3154680"/>
            <a:ext cx="1965960" cy="45720"/>
          </a:xfrm>
          <a:prstGeom prst="rect">
            <a:avLst/>
          </a:prstGeom>
          <a:solidFill>
            <a:srgbClr val="8099B5"/>
          </a:solidFill>
        </p:spPr>
      </p:sp>
      <p:sp>
        <p:nvSpPr>
          <p:cNvPr id="70" name="Text 68"/>
          <p:cNvSpPr/>
          <p:nvPr/>
        </p:nvSpPr>
        <p:spPr>
          <a:xfrm>
            <a:off x="6839712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7324344" y="32644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预约代办助理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885432" y="372160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检查预约/复查陪同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/绿色通道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85432" y="3630168"/>
            <a:ext cx="914400" cy="18288"/>
          </a:xfrm>
          <a:prstGeom prst="rect">
            <a:avLst/>
          </a:prstGeom>
          <a:solidFill>
            <a:srgbClr val="8099B5">
              <a:alpha val="40000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6885432" y="4343400"/>
            <a:ext cx="1783080" cy="201168"/>
          </a:xfrm>
          <a:prstGeom prst="rect">
            <a:avLst/>
          </a:prstGeom>
          <a:solidFill>
            <a:srgbClr val="FFD166">
              <a:alpha val="18000"/>
            </a:srgbClr>
          </a:solidFill>
        </p:spPr>
      </p:sp>
      <p:sp>
        <p:nvSpPr>
          <p:cNvPr id="75" name="Text 73"/>
          <p:cNvSpPr/>
          <p:nvPr/>
        </p:nvSpPr>
        <p:spPr>
          <a:xfrm>
            <a:off x="6885432" y="434340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</a:rPr>
              <a:t>高端版专属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C端产品设计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聊天助手：模拟微信，真人感陪伴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助手主动发消息，有名字、有个性、会记住你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417320"/>
            <a:ext cx="2468880" cy="3474720"/>
          </a:xfrm>
          <a:prstGeom prst="rect">
            <a:avLst/>
          </a:prstGeom>
          <a:solidFill>
            <a:srgbClr val="0B1E35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417320"/>
            <a:ext cx="2468880" cy="384048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4" name="Shape 12"/>
          <p:cNvSpPr/>
          <p:nvPr/>
        </p:nvSpPr>
        <p:spPr>
          <a:xfrm>
            <a:off x="1417320" y="148132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15" name="Text 13"/>
          <p:cNvSpPr/>
          <p:nvPr/>
        </p:nvSpPr>
        <p:spPr>
          <a:xfrm>
            <a:off x="640080" y="149961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🥗 营养助理·小营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1938528"/>
            <a:ext cx="1737360" cy="54864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7" name="Text 15"/>
          <p:cNvSpPr/>
          <p:nvPr/>
        </p:nvSpPr>
        <p:spPr>
          <a:xfrm>
            <a:off x="502920" y="1975104"/>
            <a:ext cx="1682496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CDE0"/>
                </a:solidFill>
              </a:rPr>
              <a:t>张阿姨早安！今天是您术后第15天，身体感觉怎么样？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41248" y="2596896"/>
            <a:ext cx="1737360" cy="548640"/>
          </a:xfrm>
          <a:prstGeom prst="rect">
            <a:avLst/>
          </a:prstGeom>
          <a:solidFill>
            <a:srgbClr val="00C8E0">
              <a:alpha val="7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868680" y="2633472"/>
            <a:ext cx="1682496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还好，就是吃东西有点难受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" y="3255264"/>
            <a:ext cx="1737360" cy="54864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21" name="Text 19"/>
          <p:cNvSpPr/>
          <p:nvPr/>
        </p:nvSpPr>
        <p:spPr>
          <a:xfrm>
            <a:off x="502920" y="3291840"/>
            <a:ext cx="1682496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CDE0"/>
                </a:solidFill>
              </a:rPr>
              <a:t>明白，这个阶段很正常。今天第3餐建议：藕粉+蒸蛋羹约150ml，吃完了记得点下面打卡哦～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41248" y="3913632"/>
            <a:ext cx="1737360" cy="548640"/>
          </a:xfrm>
          <a:prstGeom prst="rect">
            <a:avLst/>
          </a:prstGeom>
          <a:solidFill>
            <a:srgbClr val="00C8E0">
              <a:alpha val="7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868680" y="3950208"/>
            <a:ext cx="1682496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好的，我去吃了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63240" y="1417320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类主动消息触达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63240" y="190195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63240" y="1901952"/>
            <a:ext cx="45720" cy="86868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7" name="Text 25"/>
          <p:cNvSpPr/>
          <p:nvPr/>
        </p:nvSpPr>
        <p:spPr>
          <a:xfrm>
            <a:off x="3200400" y="199339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🌅 晨间问候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0" y="22860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每日08:00，问候+今日状态记录快捷按钮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190195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1901952"/>
            <a:ext cx="45720" cy="86868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1" name="Text 29"/>
          <p:cNvSpPr/>
          <p:nvPr/>
        </p:nvSpPr>
        <p:spPr>
          <a:xfrm>
            <a:off x="6080760" y="199339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E0"/>
                </a:solidFill>
              </a:rPr>
              <a:t>📊 任务打卡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80760" y="22860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早中晚定时：餐食提醒/服药提醒/运动打卡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3240" y="290779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63240" y="2907792"/>
            <a:ext cx="45720" cy="868680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5" name="Text 33"/>
          <p:cNvSpPr/>
          <p:nvPr/>
        </p:nvSpPr>
        <p:spPr>
          <a:xfrm>
            <a:off x="3200400" y="29992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C7A"/>
                </a:solidFill>
              </a:rPr>
              <a:t>⚠️ 异常预警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00400" y="32918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体温/疼痛超阈值时立即推送处理建议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290779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2907792"/>
            <a:ext cx="45720" cy="868680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39" name="Text 37"/>
          <p:cNvSpPr/>
          <p:nvPr/>
        </p:nvSpPr>
        <p:spPr>
          <a:xfrm>
            <a:off x="6080760" y="29992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FFF"/>
                </a:solidFill>
              </a:rPr>
              <a:t>📅 随访提醒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080760" y="32918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复查前7天+前1天双重提醒，附检查清单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63240" y="391363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63240" y="3913632"/>
            <a:ext cx="45720" cy="86868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43" name="Text 41"/>
          <p:cNvSpPr/>
          <p:nvPr/>
        </p:nvSpPr>
        <p:spPr>
          <a:xfrm>
            <a:off x="3200400" y="400507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9A"/>
                </a:solidFill>
              </a:rPr>
              <a:t>🎉 里程碑祝贺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200400" y="429768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术后满1/3/6/12月，生成健康阶段报告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3913632"/>
            <a:ext cx="2743200" cy="86868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3913632"/>
            <a:ext cx="45720" cy="868680"/>
          </a:xfrm>
          <a:prstGeom prst="rect">
            <a:avLst/>
          </a:prstGeom>
          <a:solidFill>
            <a:srgbClr val="B8CDE0"/>
          </a:solidFill>
        </p:spPr>
      </p:sp>
      <p:sp>
        <p:nvSpPr>
          <p:cNvPr id="47" name="Text 45"/>
          <p:cNvSpPr/>
          <p:nvPr/>
        </p:nvSpPr>
        <p:spPr>
          <a:xfrm>
            <a:off x="6080760" y="400507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CDE0"/>
                </a:solidFill>
              </a:rPr>
              <a:t>💬 健康科普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80760" y="429768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0"/>
                </a:solidFill>
              </a:rPr>
              <a:t>根据当前症状/阶段智能推送相关知识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C端产品设计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健康数字分身：养成类游戏化，让依从性变得有趣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每次打卡都影响分身状态，外在提醒转化为内在动力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508760"/>
            <a:ext cx="3200400" cy="329184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508760"/>
            <a:ext cx="3200400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Text 12"/>
          <p:cNvSpPr/>
          <p:nvPr/>
        </p:nvSpPr>
        <p:spPr>
          <a:xfrm>
            <a:off x="502920" y="16002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E0"/>
                </a:solidFill>
              </a:rPr>
              <a:t>分身状态等级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" y="1993392"/>
            <a:ext cx="2926080" cy="59436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16" name="Text 14"/>
          <p:cNvSpPr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26771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E0"/>
                </a:solidFill>
              </a:rPr>
              <a:t>康复勇士·焕发期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450592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9B5"/>
                </a:solidFill>
              </a:rPr>
              <a:t>连续7天打卡+复查按时+情绪≥7分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2697480"/>
            <a:ext cx="2926080" cy="59436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20" name="Text 18"/>
          <p:cNvSpPr/>
          <p:nvPr/>
        </p:nvSpPr>
        <p:spPr>
          <a:xfrm>
            <a:off x="502920" y="27157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97180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9A"/>
                </a:solidFill>
              </a:rPr>
              <a:t>稳步恢复·成长期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154680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9B5"/>
                </a:solidFill>
              </a:rPr>
              <a:t>5天打卡+无异常症状+按时服药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3401568"/>
            <a:ext cx="2926080" cy="59436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24" name="Text 22"/>
          <p:cNvSpPr/>
          <p:nvPr/>
        </p:nvSpPr>
        <p:spPr>
          <a:xfrm>
            <a:off x="502920" y="3419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7588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平稳调养·维持期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85876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9B5"/>
                </a:solidFill>
              </a:rPr>
              <a:t>打卡率约60%，偶有中断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" y="4105656"/>
            <a:ext cx="2926080" cy="59436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28" name="Text 26"/>
          <p:cNvSpPr/>
          <p:nvPr/>
        </p:nvSpPr>
        <p:spPr>
          <a:xfrm>
            <a:off x="502920" y="412394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37997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C7A"/>
                </a:solidFill>
              </a:rPr>
              <a:t>需要关注·休眠期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62856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9B5"/>
                </a:solidFill>
              </a:rPr>
              <a:t>连续3天无打卡或症状异常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1508760"/>
            <a:ext cx="5029200" cy="160020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1508760"/>
            <a:ext cx="5029200" cy="457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33" name="Text 31"/>
          <p:cNvSpPr/>
          <p:nvPr/>
        </p:nvSpPr>
        <p:spPr>
          <a:xfrm>
            <a:off x="3913632" y="1600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</a:rPr>
              <a:t>三维健康指数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13632" y="1901952"/>
            <a:ext cx="1371600" cy="1005840"/>
          </a:xfrm>
          <a:prstGeom prst="ellipse">
            <a:avLst/>
          </a:prstGeom>
          <a:solidFill>
            <a:srgbClr val="FFD166">
              <a:alpha val="15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3913632" y="19202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🍽️ 营养指数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13632" y="2249424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每日饮食打卡完成率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+ 体重趋势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59552" y="1901952"/>
            <a:ext cx="1371600" cy="1005840"/>
          </a:xfrm>
          <a:prstGeom prst="ellipse">
            <a:avLst/>
          </a:prstGeom>
          <a:solidFill>
            <a:srgbClr val="B98FFF">
              <a:alpha val="15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5559552" y="19202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FFF"/>
                </a:solidFill>
              </a:rPr>
              <a:t>💪 康复指数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59552" y="2249424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运动训练完成率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+ 症状监测打卡率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05472" y="1901952"/>
            <a:ext cx="1371600" cy="1005840"/>
          </a:xfrm>
          <a:prstGeom prst="ellipse">
            <a:avLst/>
          </a:prstGeom>
          <a:solidFill>
            <a:srgbClr val="00C8E0">
              <a:alpha val="15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7205472" y="19202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</a:rPr>
              <a:t>😊 心理指数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05472" y="2249424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情绪打卡均分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+ 焦虑量表结果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49040" y="3273552"/>
            <a:ext cx="5029200" cy="1527048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49040" y="3273552"/>
            <a:ext cx="5029200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45" name="Text 43"/>
          <p:cNvSpPr/>
          <p:nvPr/>
        </p:nvSpPr>
        <p:spPr>
          <a:xfrm>
            <a:off x="3913632" y="33649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成就徽章系统（行为激励）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13632" y="3730752"/>
            <a:ext cx="1097280" cy="100584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47" name="Text 45"/>
          <p:cNvSpPr/>
          <p:nvPr/>
        </p:nvSpPr>
        <p:spPr>
          <a:xfrm>
            <a:off x="3913632" y="376732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E0"/>
                </a:solidFill>
              </a:rPr>
              <a:t>🏅 打卡达人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13632" y="41148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连续7/14/30/90天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打卡不间断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9784" y="3730752"/>
            <a:ext cx="1097280" cy="100584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50" name="Text 48"/>
          <p:cNvSpPr/>
          <p:nvPr/>
        </p:nvSpPr>
        <p:spPr>
          <a:xfrm>
            <a:off x="5129784" y="376732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9A"/>
                </a:solidFill>
              </a:rPr>
              <a:t>🎯 复查先锋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9784" y="41148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全年复查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0次逾期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45936" y="3730752"/>
            <a:ext cx="1097280" cy="100584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53" name="Text 51"/>
          <p:cNvSpPr/>
          <p:nvPr/>
        </p:nvSpPr>
        <p:spPr>
          <a:xfrm>
            <a:off x="6345936" y="376732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8FFF"/>
                </a:solidFill>
              </a:rPr>
              <a:t>🍀 营养坚守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45936" y="41148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21天饮食计划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完成率≥80%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562088" y="3730752"/>
            <a:ext cx="1097280" cy="1005840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56" name="Text 54"/>
          <p:cNvSpPr/>
          <p:nvPr/>
        </p:nvSpPr>
        <p:spPr>
          <a:xfrm>
            <a:off x="7562088" y="376732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🌈 心情阳光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562088" y="41148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连续7天情绪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DE0"/>
                </a:solidFill>
              </a:rPr>
              <a:t>评分≥7分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3" name="Shape 1"/>
          <p:cNvSpPr/>
          <p:nvPr/>
        </p:nvSpPr>
        <p:spPr>
          <a:xfrm>
            <a:off x="4114800" y="-914400"/>
            <a:ext cx="6400800" cy="6400800"/>
          </a:xfrm>
          <a:prstGeom prst="ellipse">
            <a:avLst/>
          </a:prstGeom>
          <a:solidFill>
            <a:srgbClr val="FFD166">
              <a:alpha val="6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D166"/>
                </a:solidFill>
              </a:rPr>
              <a:t>04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通用多病种架构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340156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99B5"/>
                </a:solidFill>
              </a:rPr>
              <a:t>三层模型 · 疾病协议模板 · 患者分层引擎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通用多病种架构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三层架构：引擎不感知疾病，只感知配置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新增病种 = 在第二层填写一份协议模板，第一/三层无需改动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600200"/>
            <a:ext cx="8430768" cy="96012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00200"/>
            <a:ext cx="73152" cy="9601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Shape 12"/>
          <p:cNvSpPr/>
          <p:nvPr/>
        </p:nvSpPr>
        <p:spPr>
          <a:xfrm>
            <a:off x="347472" y="1600200"/>
            <a:ext cx="8430768" cy="45720"/>
          </a:xfrm>
          <a:prstGeom prst="rect">
            <a:avLst/>
          </a:prstGeom>
          <a:solidFill>
            <a:srgbClr val="00C8E0">
              <a:alpha val="5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48640" y="1673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E0"/>
                </a:solidFill>
              </a:rPr>
              <a:t>第一层：患者体验层（C端小程序）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1984248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入组流程  ·  康复团队选择  ·  助手对话  ·  健康分身  ·  打卡任务  ·  复查提醒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828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C8E0"/>
                </a:solidFill>
              </a:rPr>
              <a:t>面向患者，呈现个性化服务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697480"/>
            <a:ext cx="8430768" cy="96012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697480"/>
            <a:ext cx="73152" cy="9601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0" name="Shape 18"/>
          <p:cNvSpPr/>
          <p:nvPr/>
        </p:nvSpPr>
        <p:spPr>
          <a:xfrm>
            <a:off x="347472" y="2697480"/>
            <a:ext cx="8430768" cy="45720"/>
          </a:xfrm>
          <a:prstGeom prst="rect">
            <a:avLst/>
          </a:prstGeom>
          <a:solidFill>
            <a:srgbClr val="FFD166">
              <a:alpha val="5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48640" y="27706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第二层：疾病配置层（Disease Protocol Engine）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81528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疾病模板  ·  患者分层规则  ·  助手矩阵配置  ·  随访计划框架  ·  表单模板库  ·  预警阈值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D166"/>
                </a:solidFill>
              </a:rPr>
              <a:t>运营人员在后台配置，无需开发介入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794760"/>
            <a:ext cx="8430768" cy="96012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94760"/>
            <a:ext cx="73152" cy="9601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26" name="Shape 24"/>
          <p:cNvSpPr/>
          <p:nvPr/>
        </p:nvSpPr>
        <p:spPr>
          <a:xfrm>
            <a:off x="347472" y="3794760"/>
            <a:ext cx="8430768" cy="45720"/>
          </a:xfrm>
          <a:prstGeom prst="rect">
            <a:avLst/>
          </a:prstGeom>
          <a:solidFill>
            <a:srgbClr val="00D49A">
              <a:alpha val="5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48640" y="386791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</a:rPr>
              <a:t>第三层：通用引擎层（Platform Core）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78808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用户档案引擎  ·  动态表单引擎  ·  提醒调度引擎  ·  聊天框架  ·  游戏化引擎  ·  AI Agent框架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D49A"/>
                </a:solidFill>
              </a:rPr>
              <a:t>一次开发，永久复用，与具体疾病无关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526280"/>
            <a:ext cx="8430768" cy="320040"/>
          </a:xfrm>
          <a:prstGeom prst="rect">
            <a:avLst/>
          </a:prstGeom>
          <a:solidFill>
            <a:srgbClr val="0B1E35"/>
          </a:solidFill>
        </p:spPr>
      </p:sp>
      <p:sp>
        <p:nvSpPr>
          <p:cNvPr id="31" name="Text 29"/>
          <p:cNvSpPr/>
          <p:nvPr/>
        </p:nvSpPr>
        <p:spPr>
          <a:xfrm>
            <a:off x="502920" y="455371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核心原则：第三层引擎永远不感知具体疾病，它只感知"配置"。  食道癌→胃癌→糖尿病，只需在第二层增加协议文件。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通用多病种架构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疾病协议模板：新增病种的"说明书"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6大模块覆盖一个病种所需的全部管理要素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60020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00200"/>
            <a:ext cx="2651760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Text 12"/>
          <p:cNvSpPr/>
          <p:nvPr/>
        </p:nvSpPr>
        <p:spPr>
          <a:xfrm>
            <a:off x="484632" y="16916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E0"/>
                </a:solidFill>
              </a:rPr>
              <a:t>① 患者分层定义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05740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高危 / 确诊未手术 / 术后康复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各分层进入条件与判断逻辑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60020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600200"/>
            <a:ext cx="2651760" cy="457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18" name="Text 16"/>
          <p:cNvSpPr/>
          <p:nvPr/>
        </p:nvSpPr>
        <p:spPr>
          <a:xfrm>
            <a:off x="3364992" y="16916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</a:rPr>
              <a:t>② 健康维度配置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64992" y="205740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体重/体温/疼痛/情绪…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每个维度的监测指标与频率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08192" y="160020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1600200"/>
            <a:ext cx="2651760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2" name="Text 20"/>
          <p:cNvSpPr/>
          <p:nvPr/>
        </p:nvSpPr>
        <p:spPr>
          <a:xfrm>
            <a:off x="6245352" y="16916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③ 助手矩阵配置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205740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哪些助手可用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免费/付费权限 + 分层推荐优先级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10896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08960"/>
            <a:ext cx="2651760" cy="45720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26" name="Text 24"/>
          <p:cNvSpPr/>
          <p:nvPr/>
        </p:nvSpPr>
        <p:spPr>
          <a:xfrm>
            <a:off x="484632" y="32004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FFF"/>
                </a:solidFill>
              </a:rPr>
              <a:t>④ 随访计划框架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" y="356616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标准随访节点时间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每次对应的检查项目清单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310896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3108960"/>
            <a:ext cx="2651760" cy="45720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0" name="Text 28"/>
          <p:cNvSpPr/>
          <p:nvPr/>
        </p:nvSpPr>
        <p:spPr>
          <a:xfrm>
            <a:off x="3364992" y="32004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7A"/>
                </a:solidFill>
              </a:rPr>
              <a:t>⑤ 表单模板库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64992" y="356616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可用的量表与评估表单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NRS2002 / GAD-7 / 症状日记…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08192" y="3108960"/>
            <a:ext cx="2651760" cy="1298448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08192" y="3108960"/>
            <a:ext cx="2651760" cy="45720"/>
          </a:xfrm>
          <a:prstGeom prst="rect">
            <a:avLst/>
          </a:prstGeom>
          <a:solidFill>
            <a:srgbClr val="5ADEEE"/>
          </a:solidFill>
        </p:spPr>
      </p:sp>
      <p:sp>
        <p:nvSpPr>
          <p:cNvPr id="34" name="Text 32"/>
          <p:cNvSpPr/>
          <p:nvPr/>
        </p:nvSpPr>
        <p:spPr>
          <a:xfrm>
            <a:off x="6245352" y="32004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DEEE"/>
                </a:solidFill>
              </a:rPr>
              <a:t>⑥ 预警规则配置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45352" y="356616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各指标正常范围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轻/中/重度预警阈值定义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3" name="Shape 1"/>
          <p:cNvSpPr/>
          <p:nvPr/>
        </p:nvSpPr>
        <p:spPr>
          <a:xfrm>
            <a:off x="3657600" y="-914400"/>
            <a:ext cx="6858000" cy="6858000"/>
          </a:xfrm>
          <a:prstGeom prst="ellipse">
            <a:avLst/>
          </a:prstGeom>
          <a:solidFill>
            <a:srgbClr val="B98FFF">
              <a:alpha val="7000"/>
            </a:srgbClr>
          </a:solidFill>
          <a:ln w="12700">
            <a:solidFill>
              <a:srgbClr val="B98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B98FFF"/>
                </a:solidFill>
              </a:rPr>
              <a:t>05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Agent 方案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340156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99B5"/>
                </a:solidFill>
              </a:rPr>
              <a:t>5大Agent · 产品设计 · 技术实现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AI Agent方案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5大AI Agent：让运营从"手动执行"变为"智能驾驶"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DEEE"/>
                </a:solidFill>
              </a:rPr>
              <a:t>覆盖随访计划 → 表单 → 内容 → 预警 → 分析全链路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2" name="Shape 10"/>
          <p:cNvSpPr/>
          <p:nvPr/>
        </p:nvSpPr>
        <p:spPr>
          <a:xfrm>
            <a:off x="347472" y="1508760"/>
            <a:ext cx="8430768" cy="621792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508760"/>
            <a:ext cx="64008" cy="6217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4" name="Shape 12"/>
          <p:cNvSpPr/>
          <p:nvPr/>
        </p:nvSpPr>
        <p:spPr>
          <a:xfrm>
            <a:off x="475488" y="1636776"/>
            <a:ext cx="384048" cy="384048"/>
          </a:xfrm>
          <a:prstGeom prst="rect">
            <a:avLst/>
          </a:prstGeom>
          <a:solidFill>
            <a:srgbClr val="00C8E0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75488" y="16367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E0"/>
                </a:solidFill>
              </a:rPr>
              <a:t>A1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E0"/>
                </a:solidFill>
              </a:rPr>
              <a:t>随访计划生成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1874520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医生录入患者信息后，10秒自动生成2年随访计划草稿，医生一键确认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C8E0"/>
                </a:solidFill>
              </a:rPr>
              <a:t>医生 · 入组时触发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221992"/>
            <a:ext cx="8430768" cy="621792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221992"/>
            <a:ext cx="64008" cy="621792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1" name="Shape 19"/>
          <p:cNvSpPr/>
          <p:nvPr/>
        </p:nvSpPr>
        <p:spPr>
          <a:xfrm>
            <a:off x="475488" y="2350008"/>
            <a:ext cx="384048" cy="384048"/>
          </a:xfrm>
          <a:prstGeom prst="rect">
            <a:avLst/>
          </a:prstGeom>
          <a:solidFill>
            <a:srgbClr val="FFD166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75488" y="2350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A2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23134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智能表单生成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587752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输入评估场景，自动从量表库组装动态表单，含条件跳转与智能评分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4048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D166"/>
                </a:solidFill>
              </a:rPr>
              <a:t>运营 · 按需触发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935224"/>
            <a:ext cx="8430768" cy="621792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935224"/>
            <a:ext cx="64008" cy="621792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28" name="Shape 26"/>
          <p:cNvSpPr/>
          <p:nvPr/>
        </p:nvSpPr>
        <p:spPr>
          <a:xfrm>
            <a:off x="475488" y="3063240"/>
            <a:ext cx="384048" cy="384048"/>
          </a:xfrm>
          <a:prstGeom prst="rect">
            <a:avLst/>
          </a:prstGeom>
          <a:solidFill>
            <a:srgbClr val="00D49A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75488" y="30632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9A"/>
                </a:solidFill>
              </a:rPr>
              <a:t>A3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026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9A"/>
                </a:solidFill>
              </a:rPr>
              <a:t>千人千面内容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3300984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基于每位患者实时健康状态，生成个性化饮食/康复/科普内容推送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31181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D49A"/>
                </a:solidFill>
              </a:rPr>
              <a:t>患者透明 · 每日触发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3648456"/>
            <a:ext cx="8430768" cy="621792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648456"/>
            <a:ext cx="64008" cy="621792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5" name="Shape 33"/>
          <p:cNvSpPr/>
          <p:nvPr/>
        </p:nvSpPr>
        <p:spPr>
          <a:xfrm>
            <a:off x="475488" y="3776472"/>
            <a:ext cx="384048" cy="384048"/>
          </a:xfrm>
          <a:prstGeom prst="rect">
            <a:avLst/>
          </a:prstGeom>
          <a:solidFill>
            <a:srgbClr val="FF5C7A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75488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C7A"/>
                </a:solidFill>
              </a:rPr>
              <a:t>A4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3739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7A"/>
                </a:solidFill>
              </a:rPr>
              <a:t>异常监测响应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4014216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7×24h监控所有患者数据，自动分级预警（轻/中/重），分钟级响应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0" y="3831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5C7A"/>
                </a:solidFill>
              </a:rPr>
              <a:t>常驻后台 · 实时触发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4361688"/>
            <a:ext cx="8430768" cy="621792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4361688"/>
            <a:ext cx="64008" cy="621792"/>
          </a:xfrm>
          <a:prstGeom prst="rect">
            <a:avLst/>
          </a:prstGeom>
          <a:solidFill>
            <a:srgbClr val="B98FFF"/>
          </a:solidFill>
        </p:spPr>
      </p:sp>
      <p:sp>
        <p:nvSpPr>
          <p:cNvPr id="42" name="Shape 40"/>
          <p:cNvSpPr/>
          <p:nvPr/>
        </p:nvSpPr>
        <p:spPr>
          <a:xfrm>
            <a:off x="475488" y="4489704"/>
            <a:ext cx="384048" cy="384048"/>
          </a:xfrm>
          <a:prstGeom prst="rect">
            <a:avLst/>
          </a:prstGeom>
          <a:solidFill>
            <a:srgbClr val="B98FFF">
              <a:alpha val="2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475488" y="44897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8FFF"/>
                </a:solidFill>
              </a:rPr>
              <a:t>A5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44531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8FFF"/>
                </a:solidFill>
              </a:rPr>
              <a:t>运营智能分析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60120" y="4727448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</a:rPr>
              <a:t>自动生成每周运营洞察报告，识别高潜转化用户，给出可执行建议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58000" y="4544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98FFF"/>
                </a:solidFill>
              </a:rPr>
              <a:t>管理层 · 定时触发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AI Agent方案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A1 随访计划 × A4 异常响应：医生从"配置者"到"审核者"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7472" y="109728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1" name="Shape 9"/>
          <p:cNvSpPr/>
          <p:nvPr/>
        </p:nvSpPr>
        <p:spPr>
          <a:xfrm>
            <a:off x="347472" y="1508760"/>
            <a:ext cx="4114800" cy="338328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508760"/>
            <a:ext cx="4114800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3" name="Text 11"/>
          <p:cNvSpPr/>
          <p:nvPr/>
        </p:nvSpPr>
        <p:spPr>
          <a:xfrm>
            <a:off x="502920" y="16002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E0"/>
                </a:solidFill>
              </a:rPr>
              <a:t>A1 · 随访计划生成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202996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15" name="Text 13"/>
          <p:cNvSpPr/>
          <p:nvPr/>
        </p:nvSpPr>
        <p:spPr>
          <a:xfrm>
            <a:off x="475488" y="20299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1E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0299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患者入组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20299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填写手术日期/手术方式/是否放化疗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257860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19" name="Text 17"/>
          <p:cNvSpPr/>
          <p:nvPr/>
        </p:nvSpPr>
        <p:spPr>
          <a:xfrm>
            <a:off x="475488" y="25786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1E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57860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Agent读取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84832" y="2578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匹配疾病协议中的标准随访规范（确定性）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12724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23" name="Text 21"/>
          <p:cNvSpPr/>
          <p:nvPr/>
        </p:nvSpPr>
        <p:spPr>
          <a:xfrm>
            <a:off x="475488" y="31272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1E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1272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10秒生成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84832" y="31272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完整2年随访计划草稿 + 检查项目 + 表单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367588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27" name="Text 25"/>
          <p:cNvSpPr/>
          <p:nvPr/>
        </p:nvSpPr>
        <p:spPr>
          <a:xfrm>
            <a:off x="475488" y="36758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1E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医生审核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84832" y="36758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可视化时间轴展示，拖拽调整或一键确认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" y="4224528"/>
            <a:ext cx="256032" cy="256032"/>
          </a:xfrm>
          <a:prstGeom prst="ellipse">
            <a:avLst/>
          </a:prstGeom>
          <a:solidFill>
            <a:srgbClr val="00C8E0"/>
          </a:solidFill>
        </p:spPr>
      </p:sp>
      <p:sp>
        <p:nvSpPr>
          <p:cNvPr id="31" name="Text 29"/>
          <p:cNvSpPr/>
          <p:nvPr/>
        </p:nvSpPr>
        <p:spPr>
          <a:xfrm>
            <a:off x="475488" y="42245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1E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2245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自动执行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84832" y="42245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写入提醒系统 / 分配表单 / 通知健管师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" y="4645152"/>
            <a:ext cx="3840480" cy="182880"/>
          </a:xfrm>
          <a:prstGeom prst="rect">
            <a:avLst/>
          </a:prstGeom>
          <a:solidFill>
            <a:srgbClr val="0B1E35"/>
          </a:solidFill>
        </p:spPr>
      </p:sp>
      <p:sp>
        <p:nvSpPr>
          <p:cNvPr id="35" name="Text 33"/>
          <p:cNvSpPr/>
          <p:nvPr/>
        </p:nvSpPr>
        <p:spPr>
          <a:xfrm>
            <a:off x="502920" y="4654296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E0"/>
                </a:solidFill>
              </a:rPr>
              <a:t>关键：随访节点来自规则引擎，非LLM生成，确保医学准确性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508760"/>
            <a:ext cx="4114800" cy="3383280"/>
          </a:xfrm>
          <a:prstGeom prst="rect">
            <a:avLst/>
          </a:prstGeom>
          <a:solidFill>
            <a:srgbClr val="0F2540"/>
          </a:solidFill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508760"/>
            <a:ext cx="4114800" cy="45720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38" name="Text 36"/>
          <p:cNvSpPr/>
          <p:nvPr/>
        </p:nvSpPr>
        <p:spPr>
          <a:xfrm>
            <a:off x="4828032" y="16002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7A"/>
                </a:solidFill>
              </a:rPr>
              <a:t>A4 · 异常监测分级响应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28032" y="2029968"/>
            <a:ext cx="3794760" cy="841248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40" name="Text 38"/>
          <p:cNvSpPr/>
          <p:nvPr/>
        </p:nvSpPr>
        <p:spPr>
          <a:xfrm>
            <a:off x="4919472" y="2084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🟡 轻度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19472" y="237744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体温37.5-38°C / 疼痛4-6分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9400" y="208483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AI推送处理建议给患者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健管师工作台黄色标记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65392" y="2103120"/>
            <a:ext cx="27432" cy="749808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44" name="Shape 42"/>
          <p:cNvSpPr/>
          <p:nvPr/>
        </p:nvSpPr>
        <p:spPr>
          <a:xfrm>
            <a:off x="4828032" y="2990088"/>
            <a:ext cx="3794760" cy="841248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45" name="Text 43"/>
          <p:cNvSpPr/>
          <p:nvPr/>
        </p:nvSpPr>
        <p:spPr>
          <a:xfrm>
            <a:off x="4919472" y="3044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🟠 中度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19472" y="333756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体温38-39°C / 疼痛7分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29400" y="304495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健管师推送通知+短信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4h内联系患者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65392" y="3063240"/>
            <a:ext cx="27432" cy="749808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49" name="Shape 47"/>
          <p:cNvSpPr/>
          <p:nvPr/>
        </p:nvSpPr>
        <p:spPr>
          <a:xfrm>
            <a:off x="4828032" y="3950208"/>
            <a:ext cx="3794760" cy="841248"/>
          </a:xfrm>
          <a:prstGeom prst="rect">
            <a:avLst/>
          </a:prstGeom>
          <a:solidFill>
            <a:srgbClr val="162E50"/>
          </a:solidFill>
        </p:spPr>
      </p:sp>
      <p:sp>
        <p:nvSpPr>
          <p:cNvPr id="50" name="Text 48"/>
          <p:cNvSpPr/>
          <p:nvPr/>
        </p:nvSpPr>
        <p:spPr>
          <a:xfrm>
            <a:off x="4919472" y="40050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重度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19472" y="429768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体温&gt;39°C / 呼吸困难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29400" y="400507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责任医生电话+APP双提醒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</a:rPr>
              <a:t>30min内必须响应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65392" y="4023360"/>
            <a:ext cx="27432" cy="749808"/>
          </a:xfrm>
          <a:prstGeom prst="rect">
            <a:avLst/>
          </a:prstGeom>
          <a:solidFill>
            <a:srgbClr val="FF5C7A"/>
          </a:solidFill>
        </p:spPr>
      </p:sp>
      <p:sp>
        <p:nvSpPr>
          <p:cNvPr id="54" name="Shape 52"/>
          <p:cNvSpPr/>
          <p:nvPr/>
        </p:nvSpPr>
        <p:spPr>
          <a:xfrm>
            <a:off x="4828032" y="4645152"/>
            <a:ext cx="3840480" cy="182880"/>
          </a:xfrm>
          <a:prstGeom prst="rect">
            <a:avLst/>
          </a:prstGeom>
          <a:solidFill>
            <a:srgbClr val="0B1E35"/>
          </a:solidFill>
        </p:spPr>
      </p:sp>
      <p:sp>
        <p:nvSpPr>
          <p:cNvPr id="55" name="Text 53"/>
          <p:cNvSpPr/>
          <p:nvPr/>
        </p:nvSpPr>
        <p:spPr>
          <a:xfrm>
            <a:off x="4846320" y="4654296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5C7A"/>
                </a:solidFill>
              </a:rPr>
              <a:t>健管师从"主动巡查"→"被动接收预警"，管理效率提升5-10倍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C18"/>
          </a:solidFill>
        </p:spPr>
      </p:sp>
      <p:sp>
        <p:nvSpPr>
          <p:cNvPr id="4" name="Text 2"/>
          <p:cNvSpPr/>
          <p:nvPr/>
        </p:nvSpPr>
        <p:spPr>
          <a:xfrm>
            <a:off x="274320" y="495604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9B5"/>
                </a:solidFill>
              </a:rPr>
              <a:t>荣科健康管理平台 · 内部汇报资料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099B5"/>
                </a:solidFill>
              </a:rPr>
              <a:t>2026.04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7" name="Text 5"/>
          <p:cNvSpPr/>
          <p:nvPr/>
        </p:nvSpPr>
        <p:spPr>
          <a:xfrm>
            <a:off x="347472" y="228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E"/>
                </a:solidFill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5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E0"/>
                </a:solidFill>
              </a:rPr>
              <a:t>AI Agent方案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A3 · 千人千面内容生成：同一天，不同的你，不同的内容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7472" y="1097280"/>
            <a:ext cx="1005840" cy="36576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11" name="Shape 9"/>
          <p:cNvSpPr/>
          <p:nvPr/>
        </p:nvSpPr>
        <p:spPr>
          <a:xfrm>
            <a:off x="347472" y="1508760"/>
            <a:ext cx="8430768" cy="502920"/>
          </a:xfrm>
          <a:prstGeom prst="rect">
            <a:avLst/>
          </a:prstGeom>
          <a:solidFill>
            <a:srgbClr val="0F2540"/>
          </a:solidFill>
        </p:spPr>
      </p:sp>
      <p:sp>
        <p:nvSpPr>
          <p:cNvPr id="12" name="Shape 10"/>
          <p:cNvSpPr/>
          <p:nvPr/>
        </p:nvSpPr>
        <p:spPr>
          <a:xfrm>
            <a:off x="347472" y="1508760"/>
            <a:ext cx="8430768" cy="45720"/>
          </a:xfrm>
          <a:prstGeom prst="rect">
            <a:avLst/>
          </a:prstGeom>
          <a:solidFill>
            <a:srgbClr val="00D49A"/>
          </a:solidFill>
        </p:spPr>
      </p:sp>
      <p:sp>
        <p:nvSpPr>
          <p:cNvPr id="13" name="Text 11"/>
          <p:cNvSpPr/>
          <p:nvPr/>
        </p:nvSpPr>
        <p:spPr>
          <a:xfrm>
            <a:off x="502920" y="1572768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</a:rPr>
              <a:t>同样是"术后第15天"……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2121408"/>
            <a:ext cx="4096512" cy="22860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121408"/>
            <a:ext cx="4096512" cy="4572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6" name="Text 14"/>
          <p:cNvSpPr/>
          <p:nvPr/>
        </p:nvSpPr>
        <p:spPr>
          <a:xfrm>
            <a:off x="502920" y="22128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患者 A：体重7天下降3kg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379476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今日早餐推荐：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高蛋白匀浆膳 200ml + 蒸蛋羹 1个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营养助理提醒：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您本周体重降了1.2kg，今天要争取达到6次进食目标哦，我来帮您安排时间～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2121408"/>
            <a:ext cx="4096512" cy="2286000"/>
          </a:xfrm>
          <a:prstGeom prst="rect">
            <a:avLst/>
          </a:prstGeom>
          <a:solidFill>
            <a:srgbClr val="0F2540"/>
          </a:solidFill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121408"/>
            <a:ext cx="4096512" cy="45720"/>
          </a:xfrm>
          <a:prstGeom prst="rect">
            <a:avLst/>
          </a:prstGeom>
          <a:solidFill>
            <a:srgbClr val="00C8E0"/>
          </a:solidFill>
        </p:spPr>
      </p:sp>
      <p:sp>
        <p:nvSpPr>
          <p:cNvPr id="20" name="Text 18"/>
          <p:cNvSpPr/>
          <p:nvPr/>
        </p:nvSpPr>
        <p:spPr>
          <a:xfrm>
            <a:off x="4828032" y="22128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</a:rPr>
              <a:t>患者 B：体重稳定，恢复良好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578608"/>
            <a:ext cx="379476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今日餐食建议：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可以尝试加入软烂面条啦，进步了！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营养助理提醒：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DE0"/>
                </a:solidFill>
              </a:rPr>
              <a:t>恢复得很棒！本周可以尝试半流食过渡，我为您准备了一份"半流食食谱入门"，点击查看～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4535424"/>
            <a:ext cx="8430768" cy="347472"/>
          </a:xfrm>
          <a:prstGeom prst="rect">
            <a:avLst/>
          </a:prstGeom>
          <a:solidFill>
            <a:srgbClr val="0B1E35"/>
          </a:solidFill>
        </p:spPr>
      </p:sp>
      <p:sp>
        <p:nvSpPr>
          <p:cNvPr id="23" name="Text 21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B5"/>
                </a:solidFill>
              </a:rPr>
              <a:t>技术保障：RAG检索食管癌临床指南约束生成内容 + 安全过滤层（禁止生成诊断/停药建议）+ 每日5%抽查审核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6243</Words>
  <Application>WPS 演示</Application>
  <PresentationFormat>On-screen Show (16:9)</PresentationFormat>
  <Paragraphs>902</Paragraphs>
  <Slides>23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Calibri</vt:lpstr>
      <vt:lpstr>Calibri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荣科健康管理平台</dc:title>
  <dc:creator>PptxGenJS</dc:creator>
  <dc:subject>PptxGenJS Presentation</dc:subject>
  <cp:lastModifiedBy>什什</cp:lastModifiedBy>
  <cp:revision>6</cp:revision>
  <dcterms:created xsi:type="dcterms:W3CDTF">2026-04-19T18:31:07Z</dcterms:created>
  <dcterms:modified xsi:type="dcterms:W3CDTF">2026-04-19T18:31:07Z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5294FE2110C55BCD2019E569212DAFAC_42</vt:lpwstr>
  </property>
  <property fmtid="{D5CDD505-2E9C-101B-9397-08002B2CF9AE}" pid="3" name="KSOProductBuildVer">
    <vt:lpwstr>2052-6.14.0.8924</vt:lpwstr>
  </property>
</Properties>
</file>